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Accuracy (%)</c:v>
                </c:pt>
              </c:strCache>
            </c:strRef>
          </c:tx>
          <c:spPr>
            <a:solidFill>
              <a:srgbClr val="1B365D"/>
            </a:solidFill>
          </c:spPr>
          <c:cat>
            <c:strRef>
              <c:f>Sheet1!$A$2:$A$8</c:f>
              <c:strCache>
                <c:ptCount val="7"/>
                <c:pt idx="0">
                  <c:v>RF</c:v>
                </c:pt>
                <c:pt idx="1">
                  <c:v>ExtraTrees</c:v>
                </c:pt>
                <c:pt idx="2">
                  <c:v>LightGBM</c:v>
                </c:pt>
                <c:pt idx="3">
                  <c:v>GBDT</c:v>
                </c:pt>
                <c:pt idx="4">
                  <c:v>DecTree</c:v>
                </c:pt>
                <c:pt idx="5">
                  <c:v>AdaBoost</c:v>
                </c:pt>
                <c:pt idx="6">
                  <c:v>Baseline</c:v>
                </c:pt>
              </c:strCache>
            </c:strRef>
          </c:cat>
          <c:val>
            <c:numRef>
              <c:f>Sheet1!$B$2:$B$8</c:f>
              <c:numCache>
                <c:formatCode>General</c:formatCode>
                <c:ptCount val="7"/>
                <c:pt idx="0">
                  <c:v>94.64</c:v>
                </c:pt>
                <c:pt idx="1">
                  <c:v>94.54</c:v>
                </c:pt>
                <c:pt idx="2">
                  <c:v>90.78</c:v>
                </c:pt>
                <c:pt idx="3">
                  <c:v>86.68</c:v>
                </c:pt>
                <c:pt idx="4">
                  <c:v>90.33</c:v>
                </c:pt>
                <c:pt idx="5">
                  <c:v>80.03</c:v>
                </c:pt>
                <c:pt idx="6">
                  <c:v>50.93</c:v>
                </c:pt>
              </c:numCache>
            </c:numRef>
          </c:val>
        </c:ser>
        <c:ser>
          <c:idx val="1"/>
          <c:order val="1"/>
          <c:tx>
            <c:strRef>
              <c:f>Sheet1!$C$1</c:f>
              <c:strCache>
                <c:ptCount val="1"/>
                <c:pt idx="0">
                  <c:v>ROC-AUC (%)</c:v>
                </c:pt>
              </c:strCache>
            </c:strRef>
          </c:tx>
          <c:spPr>
            <a:solidFill>
              <a:srgbClr val="008080"/>
            </a:solidFill>
          </c:spPr>
          <c:cat>
            <c:strRef>
              <c:f>Sheet1!$A$2:$A$8</c:f>
              <c:strCache>
                <c:ptCount val="7"/>
                <c:pt idx="0">
                  <c:v>RF</c:v>
                </c:pt>
                <c:pt idx="1">
                  <c:v>ExtraTrees</c:v>
                </c:pt>
                <c:pt idx="2">
                  <c:v>LightGBM</c:v>
                </c:pt>
                <c:pt idx="3">
                  <c:v>GBDT</c:v>
                </c:pt>
                <c:pt idx="4">
                  <c:v>DecTree</c:v>
                </c:pt>
                <c:pt idx="5">
                  <c:v>AdaBoost</c:v>
                </c:pt>
                <c:pt idx="6">
                  <c:v>Baseline</c:v>
                </c:pt>
              </c:strCache>
            </c:strRef>
          </c:cat>
          <c:val>
            <c:numRef>
              <c:f>Sheet1!$C$2:$C$8</c:f>
              <c:numCache>
                <c:formatCode>General</c:formatCode>
                <c:ptCount val="7"/>
                <c:pt idx="0">
                  <c:v>98.89</c:v>
                </c:pt>
                <c:pt idx="1">
                  <c:v>98.86</c:v>
                </c:pt>
                <c:pt idx="2">
                  <c:v>97.14</c:v>
                </c:pt>
                <c:pt idx="3">
                  <c:v>95.04</c:v>
                </c:pt>
                <c:pt idx="4">
                  <c:v>92.61</c:v>
                </c:pt>
                <c:pt idx="5">
                  <c:v>89.5</c:v>
                </c:pt>
                <c:pt idx="6">
                  <c:v>55.12</c:v>
                </c:pt>
              </c:numCache>
            </c:numRef>
          </c:val>
        </c:ser>
        <c:ser>
          <c:idx val="2"/>
          <c:order val="2"/>
          <c:tx>
            <c:strRef>
              <c:f>Sheet1!$D$1</c:f>
              <c:strCache>
                <c:ptCount val="1"/>
                <c:pt idx="0">
                  <c:v>F1-Score (%)</c:v>
                </c:pt>
              </c:strCache>
            </c:strRef>
          </c:tx>
          <c:spPr>
            <a:solidFill>
              <a:srgbClr val="F39C12"/>
            </a:solidFill>
          </c:spPr>
          <c:cat>
            <c:strRef>
              <c:f>Sheet1!$A$2:$A$8</c:f>
              <c:strCache>
                <c:ptCount val="7"/>
                <c:pt idx="0">
                  <c:v>RF</c:v>
                </c:pt>
                <c:pt idx="1">
                  <c:v>ExtraTrees</c:v>
                </c:pt>
                <c:pt idx="2">
                  <c:v>LightGBM</c:v>
                </c:pt>
                <c:pt idx="3">
                  <c:v>GBDT</c:v>
                </c:pt>
                <c:pt idx="4">
                  <c:v>DecTree</c:v>
                </c:pt>
                <c:pt idx="5">
                  <c:v>AdaBoost</c:v>
                </c:pt>
                <c:pt idx="6">
                  <c:v>Baseline</c:v>
                </c:pt>
              </c:strCache>
            </c:strRef>
          </c:cat>
          <c:val>
            <c:numRef>
              <c:f>Sheet1!$D$2:$D$8</c:f>
              <c:numCache>
                <c:formatCode>General</c:formatCode>
                <c:ptCount val="7"/>
                <c:pt idx="0">
                  <c:v>94.58</c:v>
                </c:pt>
                <c:pt idx="1">
                  <c:v>94.51</c:v>
                </c:pt>
                <c:pt idx="2">
                  <c:v>90.81</c:v>
                </c:pt>
                <c:pt idx="3">
                  <c:v>86.93</c:v>
                </c:pt>
                <c:pt idx="4">
                  <c:v>90.5</c:v>
                </c:pt>
                <c:pt idx="5">
                  <c:v>81.36</c:v>
                </c:pt>
                <c:pt idx="6">
                  <c:v>55.8</c:v>
                </c:pt>
              </c:numCache>
            </c:numRef>
          </c:val>
        </c:ser>
        <c:axId val="-2068027336"/>
        <c:axId val="-2113994440"/>
      </c:barChart>
      <c:catAx>
        <c:axId val="-2068027336"/>
        <c:scaling>
          <c:orientation val="minMax"/>
        </c:scaling>
        <c:delete val="0"/>
        <c:axPos val="b"/>
        <c:majorTickMark val="out"/>
        <c:minorTickMark val="none"/>
        <c:tickLblPos val="nextTo"/>
        <c:txPr>
          <a:bodyPr/>
          <a:lstStyle/>
          <a:p>
            <a:pPr>
              <a:defRPr sz="850"/>
            </a:pPr>
          </a:p>
        </c:txPr>
        <c:crossAx val="-2113994440"/>
        <c:crosses val="autoZero"/>
        <c:auto val="1"/>
        <c:lblAlgn val="ctr"/>
        <c:lblOffset val="100"/>
        <c:noMultiLvlLbl val="0"/>
      </c:catAx>
      <c:valAx>
        <c:axId val="-2113994440"/>
        <c:scaling>
          <c:max val="102.0"/>
          <c:min val="45.0"/>
        </c:scaling>
        <c:delete val="0"/>
        <c:axPos val="l"/>
        <c:majorGridlines/>
        <c:majorTickMark val="out"/>
        <c:minorTickMark val="none"/>
        <c:tickLblPos val="nextTo"/>
        <c:txPr>
          <a:bodyPr/>
          <a:lstStyle/>
          <a:p>
            <a:pPr>
              <a:defRPr sz="850"/>
            </a:pPr>
          </a:p>
        </c:txPr>
        <c:crossAx val="-2068027336"/>
        <c:crosses val="autoZero"/>
      </c:valAx>
    </c:plotArea>
    <c:legend>
      <c:legendPos val="t"/>
      <c:overlay val="0"/>
      <c:txPr>
        <a:bodyPr/>
        <a:lstStyle/>
        <a:p>
          <a:pPr>
            <a:defRPr sz="850"/>
          </a:pPr>
        </a:p>
      </c:txPr>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ROC-AUC (%)</c:v>
                </c:pt>
              </c:strCache>
            </c:strRef>
          </c:tx>
          <c:spPr>
            <a:ln w="31750">
              <a:solidFill>
                <a:srgbClr val="1B365D"/>
              </a:solidFill>
            </a:ln>
          </c:spPr>
          <c:cat>
            <c:strRef>
              <c:f>Sheet1!$A$2:$A$5</c:f>
              <c:strCache>
                <c:ptCount val="4"/>
                <c:pt idx="0">
                  <c:v>Tháng 9</c:v>
                </c:pt>
                <c:pt idx="1">
                  <c:v>Tháng 10</c:v>
                </c:pt>
                <c:pt idx="2">
                  <c:v>Tháng 11</c:v>
                </c:pt>
                <c:pt idx="3">
                  <c:v>Tháng 12</c:v>
                </c:pt>
              </c:strCache>
            </c:strRef>
          </c:cat>
          <c:val>
            <c:numRef>
              <c:f>Sheet1!$B$2:$B$5</c:f>
              <c:numCache>
                <c:formatCode>General</c:formatCode>
                <c:ptCount val="4"/>
                <c:pt idx="0">
                  <c:v>97.62</c:v>
                </c:pt>
                <c:pt idx="1">
                  <c:v>95.58</c:v>
                </c:pt>
                <c:pt idx="2">
                  <c:v>96.37</c:v>
                </c:pt>
                <c:pt idx="3">
                  <c:v>95.15</c:v>
                </c:pt>
              </c:numCache>
            </c:numRef>
          </c:val>
          <c:smooth val="0"/>
        </c:ser>
        <c:ser>
          <c:idx val="1"/>
          <c:order val="1"/>
          <c:tx>
            <c:strRef>
              <c:f>Sheet1!$C$1</c:f>
              <c:strCache>
                <c:ptCount val="1"/>
                <c:pt idx="0">
                  <c:v>F1-Score (%)</c:v>
                </c:pt>
              </c:strCache>
            </c:strRef>
          </c:tx>
          <c:spPr>
            <a:ln w="31750">
              <a:solidFill>
                <a:srgbClr val="008080"/>
              </a:solidFill>
            </a:ln>
          </c:spPr>
          <c:cat>
            <c:strRef>
              <c:f>Sheet1!$A$2:$A$5</c:f>
              <c:strCache>
                <c:ptCount val="4"/>
                <c:pt idx="0">
                  <c:v>Tháng 9</c:v>
                </c:pt>
                <c:pt idx="1">
                  <c:v>Tháng 10</c:v>
                </c:pt>
                <c:pt idx="2">
                  <c:v>Tháng 11</c:v>
                </c:pt>
                <c:pt idx="3">
                  <c:v>Tháng 12</c:v>
                </c:pt>
              </c:strCache>
            </c:strRef>
          </c:cat>
          <c:val>
            <c:numRef>
              <c:f>Sheet1!$C$2:$C$5</c:f>
              <c:numCache>
                <c:formatCode>General</c:formatCode>
                <c:ptCount val="4"/>
                <c:pt idx="0">
                  <c:v>91.78</c:v>
                </c:pt>
                <c:pt idx="1">
                  <c:v>86.79</c:v>
                </c:pt>
                <c:pt idx="2">
                  <c:v>90.0</c:v>
                </c:pt>
                <c:pt idx="3">
                  <c:v>88.24</c:v>
                </c:pt>
              </c:numCache>
            </c:numRef>
          </c:val>
          <c:smooth val="0"/>
        </c:ser>
        <c:ser>
          <c:idx val="2"/>
          <c:order val="2"/>
          <c:tx>
            <c:strRef>
              <c:f>Sheet1!$D$1</c:f>
              <c:strCache>
                <c:ptCount val="1"/>
                <c:pt idx="0">
                  <c:v>Recall (%)</c:v>
                </c:pt>
              </c:strCache>
            </c:strRef>
          </c:tx>
          <c:spPr>
            <a:ln w="31750">
              <a:solidFill>
                <a:srgbClr val="28A745"/>
              </a:solidFill>
            </a:ln>
          </c:spPr>
          <c:cat>
            <c:strRef>
              <c:f>Sheet1!$A$2:$A$5</c:f>
              <c:strCache>
                <c:ptCount val="4"/>
                <c:pt idx="0">
                  <c:v>Tháng 9</c:v>
                </c:pt>
                <c:pt idx="1">
                  <c:v>Tháng 10</c:v>
                </c:pt>
                <c:pt idx="2">
                  <c:v>Tháng 11</c:v>
                </c:pt>
                <c:pt idx="3">
                  <c:v>Tháng 12</c:v>
                </c:pt>
              </c:strCache>
            </c:strRef>
          </c:cat>
          <c:val>
            <c:numRef>
              <c:f>Sheet1!$D$2:$D$5</c:f>
              <c:numCache>
                <c:formatCode>General</c:formatCode>
                <c:ptCount val="4"/>
                <c:pt idx="0">
                  <c:v>89.85</c:v>
                </c:pt>
                <c:pt idx="1">
                  <c:v>83.25</c:v>
                </c:pt>
                <c:pt idx="2">
                  <c:v>89.75</c:v>
                </c:pt>
                <c:pt idx="3">
                  <c:v>88.0</c:v>
                </c:pt>
              </c:numCache>
            </c:numRef>
          </c:val>
          <c:smooth val="0"/>
        </c:ser>
        <c:ser>
          <c:idx val="3"/>
          <c:order val="3"/>
          <c:tx>
            <c:strRef>
              <c:f>Sheet1!$E$1</c:f>
              <c:strCache>
                <c:ptCount val="1"/>
                <c:pt idx="0">
                  <c:v>FPR (%)</c:v>
                </c:pt>
              </c:strCache>
            </c:strRef>
          </c:tx>
          <c:spPr>
            <a:ln w="31750">
              <a:solidFill>
                <a:srgbClr val="D9534F"/>
              </a:solidFill>
            </a:ln>
          </c:spPr>
          <c:cat>
            <c:strRef>
              <c:f>Sheet1!$A$2:$A$5</c:f>
              <c:strCache>
                <c:ptCount val="4"/>
                <c:pt idx="0">
                  <c:v>Tháng 9</c:v>
                </c:pt>
                <c:pt idx="1">
                  <c:v>Tháng 10</c:v>
                </c:pt>
                <c:pt idx="2">
                  <c:v>Tháng 11</c:v>
                </c:pt>
                <c:pt idx="3">
                  <c:v>Tháng 12</c:v>
                </c:pt>
              </c:strCache>
            </c:strRef>
          </c:cat>
          <c:val>
            <c:numRef>
              <c:f>Sheet1!$E$2:$E$5</c:f>
              <c:numCache>
                <c:formatCode>General</c:formatCode>
                <c:ptCount val="4"/>
                <c:pt idx="0">
                  <c:v>5.95</c:v>
                </c:pt>
                <c:pt idx="1">
                  <c:v>8.6</c:v>
                </c:pt>
                <c:pt idx="2">
                  <c:v>9.7</c:v>
                </c:pt>
                <c:pt idx="3">
                  <c:v>11.45</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txPr>
          <a:bodyPr/>
          <a:lstStyle/>
          <a:p>
            <a:pPr>
              <a:defRPr sz="900"/>
            </a:pPr>
          </a:p>
        </c:txPr>
        <c:crossAx val="2140495176"/>
        <c:crosses val="autoZero"/>
        <c:auto val="1"/>
        <c:lblAlgn val="ctr"/>
        <c:lblOffset val="100"/>
        <c:noMultiLvlLbl val="0"/>
      </c:catAx>
      <c:valAx>
        <c:axId val="2140495176"/>
        <c:scaling>
          <c:max val="100.0"/>
          <c:min val="0.0"/>
        </c:scaling>
        <c:delete val="0"/>
        <c:axPos val="l"/>
        <c:majorGridlines/>
        <c:majorTickMark val="out"/>
        <c:minorTickMark val="none"/>
        <c:tickLblPos val="nextTo"/>
        <c:txPr>
          <a:bodyPr/>
          <a:lstStyle/>
          <a:p>
            <a:pPr>
              <a:defRPr sz="900"/>
            </a:pPr>
          </a:p>
        </c:txPr>
        <c:crossAx val="2118791784"/>
        <c:crosses val="autoZero"/>
      </c:valAx>
    </c:plotArea>
    <c:legend>
      <c:legendPos val="t"/>
      <c:layout/>
      <c:overlay val="0"/>
      <c:txPr>
        <a:bodyPr/>
        <a:lstStyle/>
        <a:p>
          <a:pPr>
            <a:defRPr sz="850"/>
          </a:pPr>
        </a:p>
      </c:txPr>
    </c:legend>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Tĩnh - ROC-AUC (%)</c:v>
                </c:pt>
              </c:strCache>
            </c:strRef>
          </c:tx>
          <c:spPr>
            <a:solidFill>
              <a:srgbClr val="1B365D"/>
            </a:solidFill>
          </c:spPr>
          <c:cat>
            <c:strRef>
              <c:f>Sheet1!$A$2:$A$5</c:f>
              <c:strCache>
                <c:ptCount val="4"/>
                <c:pt idx="0">
                  <c:v>Tháng 9</c:v>
                </c:pt>
                <c:pt idx="1">
                  <c:v>Tháng 10</c:v>
                </c:pt>
                <c:pt idx="2">
                  <c:v>Tháng 11</c:v>
                </c:pt>
                <c:pt idx="3">
                  <c:v>Tháng 12</c:v>
                </c:pt>
              </c:strCache>
            </c:strRef>
          </c:cat>
          <c:val>
            <c:numRef>
              <c:f>Sheet1!$B$2:$B$5</c:f>
              <c:numCache>
                <c:formatCode>General</c:formatCode>
                <c:ptCount val="4"/>
                <c:pt idx="0">
                  <c:v>97.62</c:v>
                </c:pt>
                <c:pt idx="1">
                  <c:v>95.58</c:v>
                </c:pt>
                <c:pt idx="2">
                  <c:v>96.37</c:v>
                </c:pt>
                <c:pt idx="3">
                  <c:v>95.15</c:v>
                </c:pt>
              </c:numCache>
            </c:numRef>
          </c:val>
        </c:ser>
        <c:ser>
          <c:idx val="1"/>
          <c:order val="1"/>
          <c:tx>
            <c:strRef>
              <c:f>Sheet1!$C$1</c:f>
              <c:strCache>
                <c:ptCount val="1"/>
                <c:pt idx="0">
                  <c:v>Retrain - ROC-AUC (%)</c:v>
                </c:pt>
              </c:strCache>
            </c:strRef>
          </c:tx>
          <c:spPr>
            <a:solidFill>
              <a:srgbClr val="008080"/>
            </a:solidFill>
          </c:spPr>
          <c:cat>
            <c:strRef>
              <c:f>Sheet1!$A$2:$A$5</c:f>
              <c:strCache>
                <c:ptCount val="4"/>
                <c:pt idx="0">
                  <c:v>Tháng 9</c:v>
                </c:pt>
                <c:pt idx="1">
                  <c:v>Tháng 10</c:v>
                </c:pt>
                <c:pt idx="2">
                  <c:v>Tháng 11</c:v>
                </c:pt>
                <c:pt idx="3">
                  <c:v>Tháng 12</c:v>
                </c:pt>
              </c:strCache>
            </c:strRef>
          </c:cat>
          <c:val>
            <c:numRef>
              <c:f>Sheet1!$C$2:$C$5</c:f>
              <c:numCache>
                <c:formatCode>General</c:formatCode>
                <c:ptCount val="4"/>
                <c:pt idx="0">
                  <c:v>96.88</c:v>
                </c:pt>
                <c:pt idx="1">
                  <c:v>96.62</c:v>
                </c:pt>
                <c:pt idx="2">
                  <c:v>97.68</c:v>
                </c:pt>
                <c:pt idx="3">
                  <c:v>97.6</c:v>
                </c:pt>
              </c:numCache>
            </c:numRef>
          </c:val>
        </c:ser>
        <c:ser>
          <c:idx val="2"/>
          <c:order val="2"/>
          <c:tx>
            <c:strRef>
              <c:f>Sheet1!$D$1</c:f>
              <c:strCache>
                <c:ptCount val="1"/>
                <c:pt idx="0">
                  <c:v>Tĩnh - F1 (%)</c:v>
                </c:pt>
              </c:strCache>
            </c:strRef>
          </c:tx>
          <c:spPr>
            <a:solidFill>
              <a:srgbClr val="D9534F"/>
            </a:solidFill>
          </c:spPr>
          <c:cat>
            <c:strRef>
              <c:f>Sheet1!$A$2:$A$5</c:f>
              <c:strCache>
                <c:ptCount val="4"/>
                <c:pt idx="0">
                  <c:v>Tháng 9</c:v>
                </c:pt>
                <c:pt idx="1">
                  <c:v>Tháng 10</c:v>
                </c:pt>
                <c:pt idx="2">
                  <c:v>Tháng 11</c:v>
                </c:pt>
                <c:pt idx="3">
                  <c:v>Tháng 12</c:v>
                </c:pt>
              </c:strCache>
            </c:strRef>
          </c:cat>
          <c:val>
            <c:numRef>
              <c:f>Sheet1!$D$2:$D$5</c:f>
              <c:numCache>
                <c:formatCode>General</c:formatCode>
                <c:ptCount val="4"/>
                <c:pt idx="0">
                  <c:v>91.78</c:v>
                </c:pt>
                <c:pt idx="1">
                  <c:v>86.79</c:v>
                </c:pt>
                <c:pt idx="2">
                  <c:v>90.0</c:v>
                </c:pt>
                <c:pt idx="3">
                  <c:v>88.24</c:v>
                </c:pt>
              </c:numCache>
            </c:numRef>
          </c:val>
        </c:ser>
        <c:ser>
          <c:idx val="3"/>
          <c:order val="3"/>
          <c:tx>
            <c:strRef>
              <c:f>Sheet1!$E$1</c:f>
              <c:strCache>
                <c:ptCount val="1"/>
                <c:pt idx="0">
                  <c:v>Retrain - F1 (%)</c:v>
                </c:pt>
              </c:strCache>
            </c:strRef>
          </c:tx>
          <c:spPr>
            <a:solidFill>
              <a:srgbClr val="F39C12"/>
            </a:solidFill>
          </c:spPr>
          <c:cat>
            <c:strRef>
              <c:f>Sheet1!$A$2:$A$5</c:f>
              <c:strCache>
                <c:ptCount val="4"/>
                <c:pt idx="0">
                  <c:v>Tháng 9</c:v>
                </c:pt>
                <c:pt idx="1">
                  <c:v>Tháng 10</c:v>
                </c:pt>
                <c:pt idx="2">
                  <c:v>Tháng 11</c:v>
                </c:pt>
                <c:pt idx="3">
                  <c:v>Tháng 12</c:v>
                </c:pt>
              </c:strCache>
            </c:strRef>
          </c:cat>
          <c:val>
            <c:numRef>
              <c:f>Sheet1!$E$2:$E$5</c:f>
              <c:numCache>
                <c:formatCode>General</c:formatCode>
                <c:ptCount val="4"/>
                <c:pt idx="0">
                  <c:v>90.95</c:v>
                </c:pt>
                <c:pt idx="1">
                  <c:v>89.46</c:v>
                </c:pt>
                <c:pt idx="2">
                  <c:v>91.95</c:v>
                </c:pt>
                <c:pt idx="3">
                  <c:v>92.29</c:v>
                </c:pt>
              </c:numCache>
            </c:numRef>
          </c:val>
        </c:ser>
        <c:axId val="-2068027336"/>
        <c:axId val="-2113994440"/>
      </c:barChart>
      <c:catAx>
        <c:axId val="-2068027336"/>
        <c:scaling>
          <c:orientation val="minMax"/>
        </c:scaling>
        <c:delete val="0"/>
        <c:axPos val="b"/>
        <c:majorTickMark val="out"/>
        <c:minorTickMark val="none"/>
        <c:tickLblPos val="nextTo"/>
        <c:txPr>
          <a:bodyPr/>
          <a:lstStyle/>
          <a:p>
            <a:pPr>
              <a:defRPr sz="900"/>
            </a:pPr>
          </a:p>
        </c:txPr>
        <c:crossAx val="-2113994440"/>
        <c:crosses val="autoZero"/>
        <c:auto val="1"/>
        <c:lblAlgn val="ctr"/>
        <c:lblOffset val="100"/>
        <c:noMultiLvlLbl val="0"/>
      </c:catAx>
      <c:valAx>
        <c:axId val="-2113994440"/>
        <c:scaling>
          <c:max val="100.0"/>
          <c:min val="80.0"/>
        </c:scaling>
        <c:delete val="0"/>
        <c:axPos val="l"/>
        <c:majorGridlines/>
        <c:majorTickMark val="out"/>
        <c:minorTickMark val="none"/>
        <c:tickLblPos val="nextTo"/>
        <c:txPr>
          <a:bodyPr/>
          <a:lstStyle/>
          <a:p>
            <a:pPr>
              <a:defRPr sz="900"/>
            </a:pPr>
          </a:p>
        </c:txPr>
        <c:crossAx val="-2068027336"/>
        <c:crosses val="autoZero"/>
      </c:valAx>
    </c:plotArea>
    <c:legend>
      <c:legendPos val="t"/>
      <c:overlay val="0"/>
      <c:txPr>
        <a:bodyPr/>
        <a:lstStyle/>
        <a:p>
          <a:pPr>
            <a:defRPr sz="850"/>
          </a:pPr>
        </a:p>
      </c:txPr>
    </c:legend>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Kính chào Thầy và các bạn. Em tên là Trần Nguyễn Minh Khôi, sinh viên lớp 11_DH_CNPM1. Hôm nay em xin báo cáo đề tài giữa kì: Phân loại malware PE từ EMBER và kiểm tra drift theo thời gian.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trình bày về bài báo tham khảo của thầy Nguyễn Kim Tuấn và Nguyễn Hoàng Hà. Động lực chính là giải quyết hạn chế của kỹ thuật chữ ký truyền thống khi đối mặt malware biến hình bằng cách ứng dụng Machine Learning trên PE Header.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Bài báo gốc khảo sát 54 đặc trưng header và rút gọn còn 44. Thuật toán Random Forest với 100 cây đạt hiệu năng xuất sắc nhất 99.71%. Điểm cốt lõi là tối ưu số cây và đặc trưng giúp tiết kiệm tài nguyên hệ thống đáng kể.</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Bộ dữ liệu EMBER 2018 giải quyết khoảng trống lớn nhất của bài báo gốc là cung cấp cột thời gian 'appeared' thực tế từ tháng 1 đến tháng 12 năm 2018. Chúng em lấy mẫu phân tầng 4.000 mẫu mỗi tháng, tổng 48.000 mẫu để tối ưu thời gian huấn luyện.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Quy trình thực hiện gồm 5 bước khép kín từ trích chọn dữ liệu thô, tiền xử lý đặc trưng PE header, tái hiện mô hình, đánh giá toàn diện các chỉ số an ninh mạng và cuối cùng là kiểm tra trôi dạt dữ liệu theo trục thời gian thực.</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Điểm mới trong thiết lập thực nghiệm của chúng em là bổ sung thêm ROC-AUC, PR-AUC và đặc biệt là FPR - tỷ lệ cảnh báo sai, một chỉ số sống còn trong an toàn thông tin mà bài báo gốc chưa đề cập.</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Kính thưa Thầy và các bạn, ở Slide 6 (Kết quả thực nghiệm tái hiện Phần A), bảng số liệu và biểu đồ cột đều được truyền trực tiếp từ file kết quả thực nghiệm. Về bảng đối sánh bên trái, Random Forest và Extra Trees đạt độ chính xác trên 94.6% và ROC-AUC vượt 0.988, vượt trội hoàn toàn so với Baseline Logistic Regression. Biểu đồ cột bên phải thể hiện trực quan ưu thế của nhóm thuật toán cây quyết định đối với dữ liệu PE Header. Tỷ lệ cảnh báo sai (FPR) của Random Forest chỉ 4.40%, đảm bảo mô hình hoạt động tin cậy và không gây gián đoạn hệ thống.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Ở Slide 7 (kết quả kiểm tra Drift Phần B), cả hai biểu đồ đều là biểu đồ động tương tác được tạo trực tiếp từ số liệu temporal_degradation.csv và retraining_comparison.csv. Biểu đồ đường bên trái minh chứng sự suy giảm rõ rệt của mô hình tĩnh: ROC-AUC giảm dần qua các tháng và FPR tăng vọt từ 5.95% lên 11.45% do các biến thể malware mới xuất hiện. Biểu đồ cột bên phải cho thấy giải pháp huấn luyện lại định kỳ theo cửa sổ trượt (Sliding Window) đã giải quyết triệt để vấn đề: tại tháng 12, mô hình Retrained phục hồi AUC lên 97.60% (+2.45%), F1 lên 92.29% (+4.05%), và hạ FPR xuống 7.90% (-3.55%).</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 trình bày rõ ràng: Đây là quá trình tái hiện phương pháp luận chứ không phải ép buộc số liệu. Điểm vượt trội của nghiên cứu là bổ sung chiều thời gian và thước đo FPR chuẩn an ninh mạng, đồng thời thẳng thắn nhìn nhận hạn chế về phần cứng.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 xin kết luận đề tài: Việc nghiên cứu trôi dạt dữ liệu giúp chúng em hiểu rõ hơn về thách thức trong triển khai AI vào an toàn thông tin thực tế. Em xin chân thành cảm ơn Thầy Phạm Trọng Huynh đã hướng dẫn và em xin sẵn sàng lắng nghe câu hỏi từ Thầy.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chart" Target="../charts/char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65D"/>
          </a:solidFill>
          <a:ln>
            <a:solidFill>
              <a:srgbClr val="1B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731520"/>
            <a:ext cx="137160" cy="5394960"/>
          </a:xfrm>
          <a:prstGeom prst="rect">
            <a:avLst/>
          </a:prstGeom>
          <a:solidFill>
            <a:srgbClr val="00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731520"/>
            <a:ext cx="10241280" cy="5394960"/>
          </a:xfrm>
          <a:prstGeom prst="rect">
            <a:avLst/>
          </a:prstGeom>
          <a:noFill/>
        </p:spPr>
        <p:txBody>
          <a:bodyPr wrap="square">
            <a:spAutoFit/>
          </a:bodyPr>
          <a:lstStyle/>
          <a:p>
            <a:pPr>
              <a:defRPr sz="1500" b="1">
                <a:solidFill>
                  <a:srgbClr val="FFFFFF"/>
                </a:solidFill>
              </a:defRPr>
            </a:pPr>
            <a:r>
              <a:t>TRƯỜNG ĐẠI HỌC TÀI NGUYÊN VÀ MÔI TRƯỜNG TP.HCM</a:t>
            </a:r>
          </a:p>
          <a:p>
            <a:pPr>
              <a:spcAft>
                <a:spcPts val="2800"/>
              </a:spcAft>
              <a:defRPr sz="1300" b="1">
                <a:solidFill>
                  <a:srgbClr val="B4CDEB"/>
                </a:solidFill>
              </a:defRPr>
            </a:pPr>
            <a:r>
              <a:t>KHOA: CÔNG NGHỆ THÔNG TIN</a:t>
            </a:r>
          </a:p>
          <a:p>
            <a:pPr>
              <a:defRPr sz="1300" b="1">
                <a:solidFill>
                  <a:srgbClr val="008080"/>
                </a:solidFill>
              </a:defRPr>
            </a:pPr>
            <a:r>
              <a:t>BÁO CÁO GIỮA KÌ</a:t>
            </a:r>
          </a:p>
          <a:p>
            <a:pPr>
              <a:spcAft>
                <a:spcPts val="3000"/>
              </a:spcAft>
              <a:defRPr sz="2600" b="1">
                <a:solidFill>
                  <a:srgbClr val="FFFFFF"/>
                </a:solidFill>
              </a:defRPr>
            </a:pPr>
            <a:r>
              <a:t>PHÂN LOẠI MALWARE PE TỪ EMBER</a:t>
            </a:r>
            <a:br/>
            <a:r>
              <a:t>VÀ KIỂM TRA DRIFT THEO THỜI GIAN</a:t>
            </a:r>
          </a:p>
          <a:p>
            <a:pPr>
              <a:defRPr sz="1300">
                <a:solidFill>
                  <a:srgbClr val="DCE6F5"/>
                </a:solidFill>
              </a:defRPr>
            </a:pPr>
            <a:r>
              <a:t>Môn: An toàn và bảo mật hệ thống thông tin</a:t>
            </a:r>
          </a:p>
          <a:p>
            <a:pPr>
              <a:defRPr sz="1300">
                <a:solidFill>
                  <a:srgbClr val="DCE6F5"/>
                </a:solidFill>
              </a:defRPr>
            </a:pPr>
            <a:r>
              <a:t>Giảng viên hướng dẫn: ThS. Phạm Trọng Huynh</a:t>
            </a:r>
          </a:p>
          <a:p>
            <a:pPr>
              <a:defRPr sz="1300">
                <a:solidFill>
                  <a:srgbClr val="DCE6F5"/>
                </a:solidFill>
              </a:defRPr>
            </a:pPr>
            <a:r>
              <a:t>Sinh viên thực hiện: Trần Nguyễn Minh Khôi</a:t>
            </a:r>
          </a:p>
          <a:p>
            <a:pPr>
              <a:defRPr sz="1300">
                <a:solidFill>
                  <a:srgbClr val="DCE6F5"/>
                </a:solidFill>
              </a:defRPr>
            </a:pPr>
            <a:r>
              <a:t>Mã số sinh viên: 1150080059</a:t>
            </a:r>
          </a:p>
          <a:p>
            <a:pPr>
              <a:defRPr sz="1300">
                <a:solidFill>
                  <a:srgbClr val="DCE6F5"/>
                </a:solidFill>
              </a:defRPr>
            </a:pPr>
            <a:r>
              <a:t>Lớp: 11_DH_CNPM1</a:t>
            </a:r>
          </a:p>
          <a:p>
            <a:pPr>
              <a:defRPr sz="1300">
                <a:solidFill>
                  <a:srgbClr val="DCE6F5"/>
                </a:solidFill>
              </a:defRPr>
            </a:pPr>
            <a:r>
              <a:t>Khóa: Công nghệ thông tin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058400" cy="274320"/>
          </a:xfrm>
          <a:prstGeom prst="rect">
            <a:avLst/>
          </a:prstGeom>
          <a:noFill/>
        </p:spPr>
        <p:txBody>
          <a:bodyPr wrap="square">
            <a:spAutoFit/>
          </a:bodyPr>
          <a:lstStyle/>
          <a:p>
            <a:pPr>
              <a:defRPr sz="1000" b="1">
                <a:solidFill>
                  <a:srgbClr val="008080"/>
                </a:solidFill>
              </a:defRPr>
            </a:pPr>
            <a:r>
              <a:t>BÁO CÁO GIỮA KÌ - AN TOÀN VÀ BẢO MẬT HỆ THỐNG THÔNG TIN</a:t>
            </a:r>
          </a:p>
        </p:txBody>
      </p:sp>
      <p:sp>
        <p:nvSpPr>
          <p:cNvPr id="3" name="TextBox 2"/>
          <p:cNvSpPr txBox="1"/>
          <p:nvPr/>
        </p:nvSpPr>
        <p:spPr>
          <a:xfrm>
            <a:off x="731520" y="594360"/>
            <a:ext cx="10515600" cy="548640"/>
          </a:xfrm>
          <a:prstGeom prst="rect">
            <a:avLst/>
          </a:prstGeom>
          <a:noFill/>
        </p:spPr>
        <p:txBody>
          <a:bodyPr wrap="square">
            <a:spAutoFit/>
          </a:bodyPr>
          <a:lstStyle/>
          <a:p>
            <a:pPr>
              <a:defRPr sz="2200" b="1">
                <a:solidFill>
                  <a:srgbClr val="1B365D"/>
                </a:solidFill>
              </a:defRPr>
            </a:pPr>
            <a:r>
              <a:t>1. Tổng quan Bài Báo Tham Khảo: Động lực &amp; Bài toán</a:t>
            </a:r>
          </a:p>
        </p:txBody>
      </p:sp>
      <p:sp>
        <p:nvSpPr>
          <p:cNvPr id="4" name="Rounded Rectangle 3"/>
          <p:cNvSpPr/>
          <p:nvPr/>
        </p:nvSpPr>
        <p:spPr>
          <a:xfrm>
            <a:off x="731520" y="1280160"/>
            <a:ext cx="5120640" cy="4937760"/>
          </a:xfrm>
          <a:prstGeom prst="roundRect">
            <a:avLst>
              <a:gd name="adj" fmla="val 3500"/>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7552" y="1463040"/>
            <a:ext cx="4608576" cy="347472"/>
          </a:xfrm>
          <a:prstGeom prst="rect">
            <a:avLst/>
          </a:prstGeom>
          <a:noFill/>
        </p:spPr>
        <p:txBody>
          <a:bodyPr wrap="square" lIns="0" tIns="0" rIns="0" bIns="0">
            <a:spAutoFit/>
          </a:bodyPr>
          <a:lstStyle/>
          <a:p>
            <a:pPr>
              <a:defRPr sz="1300" b="1">
                <a:solidFill>
                  <a:srgbClr val="1B365D"/>
                </a:solidFill>
              </a:defRPr>
            </a:pPr>
            <a:r>
              <a:t>Thông Tin Xuất Bản &amp; Tác Giả</a:t>
            </a:r>
          </a:p>
        </p:txBody>
      </p:sp>
      <p:sp>
        <p:nvSpPr>
          <p:cNvPr id="6" name="TextBox 5"/>
          <p:cNvSpPr txBox="1"/>
          <p:nvPr/>
        </p:nvSpPr>
        <p:spPr>
          <a:xfrm>
            <a:off x="987552" y="1874519"/>
            <a:ext cx="4608576" cy="4114800"/>
          </a:xfrm>
          <a:prstGeom prst="rect">
            <a:avLst/>
          </a:prstGeom>
          <a:noFill/>
        </p:spPr>
        <p:txBody>
          <a:bodyPr wrap="square" lIns="0" tIns="0" rIns="0" bIns="0">
            <a:spAutoFit/>
          </a:bodyPr>
          <a:lstStyle/>
          <a:p/>
          <a:p>
            <a:pPr>
              <a:defRPr b="1" sz="1200">
                <a:solidFill>
                  <a:srgbClr val="1B365D"/>
                </a:solidFill>
              </a:defRPr>
            </a:pPr>
            <a:r>
              <a:t>• Tên bài báo: </a:t>
            </a:r>
          </a:p>
          <a:p>
            <a:pPr>
              <a:spcAft>
                <a:spcPts val="800"/>
              </a:spcAft>
              <a:defRPr sz="1100">
                <a:solidFill>
                  <a:srgbClr val="212529"/>
                </a:solidFill>
              </a:defRPr>
            </a:pPr>
            <a:r>
              <a:t>  Phát hiện malware dựa trên header của tập tin PE sử dụng Machine learning</a:t>
            </a:r>
          </a:p>
          <a:p>
            <a:pPr>
              <a:defRPr b="1" sz="1200">
                <a:solidFill>
                  <a:srgbClr val="1B365D"/>
                </a:solidFill>
              </a:defRPr>
            </a:pPr>
            <a:r>
              <a:t>• Tác giả: </a:t>
            </a:r>
          </a:p>
          <a:p>
            <a:pPr>
              <a:spcAft>
                <a:spcPts val="800"/>
              </a:spcAft>
              <a:defRPr sz="1100">
                <a:solidFill>
                  <a:srgbClr val="212529"/>
                </a:solidFill>
              </a:defRPr>
            </a:pPr>
            <a:r>
              <a:t>  Nguyễn Kim Tuấn (ĐH Duy Tân) &amp; Nguyễn Hoàng Hà (ĐH Khoa học Huế)</a:t>
            </a:r>
          </a:p>
          <a:p>
            <a:pPr>
              <a:defRPr b="1" sz="1200">
                <a:solidFill>
                  <a:srgbClr val="1B365D"/>
                </a:solidFill>
              </a:defRPr>
            </a:pPr>
            <a:r>
              <a:t>• Mục tiêu chính: </a:t>
            </a:r>
          </a:p>
          <a:p>
            <a:pPr>
              <a:spcAft>
                <a:spcPts val="800"/>
              </a:spcAft>
              <a:defRPr sz="1100">
                <a:solidFill>
                  <a:srgbClr val="212529"/>
                </a:solidFill>
              </a:defRPr>
            </a:pPr>
            <a:r>
              <a:t>  Xây dựng mô hình Machine Learning phát hiện mã độc Windows PE bằng cách chỉ khai thác các trường thông tin trong PE Header.</a:t>
            </a:r>
          </a:p>
          <a:p>
            <a:pPr>
              <a:defRPr b="1" sz="1200">
                <a:solidFill>
                  <a:srgbClr val="1B365D"/>
                </a:solidFill>
              </a:defRPr>
            </a:pPr>
            <a:r>
              <a:t>• Điểm cải tiến: </a:t>
            </a:r>
          </a:p>
          <a:p>
            <a:pPr>
              <a:spcAft>
                <a:spcPts val="800"/>
              </a:spcAft>
              <a:defRPr sz="1100">
                <a:solidFill>
                  <a:srgbClr val="212529"/>
                </a:solidFill>
              </a:defRPr>
            </a:pPr>
            <a:r>
              <a:t>  Rút gọn số lượng trường header cần quét, giảm tài nguyên tính toán và thời gian thực thi nhưng vẫn duy trì độ chính xác cao.</a:t>
            </a:r>
          </a:p>
        </p:txBody>
      </p:sp>
      <p:sp>
        <p:nvSpPr>
          <p:cNvPr id="7" name="Rounded Rectangle 6"/>
          <p:cNvSpPr/>
          <p:nvPr/>
        </p:nvSpPr>
        <p:spPr>
          <a:xfrm>
            <a:off x="6217920" y="1280160"/>
            <a:ext cx="5212080" cy="4937760"/>
          </a:xfrm>
          <a:prstGeom prst="roundRect">
            <a:avLst>
              <a:gd name="adj" fmla="val 3500"/>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73952" y="1463040"/>
            <a:ext cx="4700016" cy="347472"/>
          </a:xfrm>
          <a:prstGeom prst="rect">
            <a:avLst/>
          </a:prstGeom>
          <a:noFill/>
        </p:spPr>
        <p:txBody>
          <a:bodyPr wrap="square" lIns="0" tIns="0" rIns="0" bIns="0">
            <a:spAutoFit/>
          </a:bodyPr>
          <a:lstStyle/>
          <a:p>
            <a:pPr>
              <a:defRPr sz="1300" b="1">
                <a:solidFill>
                  <a:srgbClr val="1B365D"/>
                </a:solidFill>
              </a:defRPr>
            </a:pPr>
            <a:r>
              <a:t>Bối Cảnh &amp; Động Lực Kỹ Thuật</a:t>
            </a:r>
          </a:p>
        </p:txBody>
      </p:sp>
      <p:sp>
        <p:nvSpPr>
          <p:cNvPr id="9" name="TextBox 8"/>
          <p:cNvSpPr txBox="1"/>
          <p:nvPr/>
        </p:nvSpPr>
        <p:spPr>
          <a:xfrm>
            <a:off x="6473952" y="1874519"/>
            <a:ext cx="4700016" cy="4114800"/>
          </a:xfrm>
          <a:prstGeom prst="rect">
            <a:avLst/>
          </a:prstGeom>
          <a:noFill/>
        </p:spPr>
        <p:txBody>
          <a:bodyPr wrap="square" lIns="0" tIns="0" rIns="0" bIns="0">
            <a:spAutoFit/>
          </a:bodyPr>
          <a:lstStyle/>
          <a:p/>
          <a:p>
            <a:pPr>
              <a:defRPr b="1" sz="1200">
                <a:solidFill>
                  <a:srgbClr val="008080"/>
                </a:solidFill>
              </a:defRPr>
            </a:pPr>
            <a:r>
              <a:t>• Mối đe dọa từ file PE: </a:t>
            </a:r>
          </a:p>
          <a:p>
            <a:pPr>
              <a:spcAft>
                <a:spcPts val="800"/>
              </a:spcAft>
              <a:defRPr sz="1100">
                <a:solidFill>
                  <a:srgbClr val="212529"/>
                </a:solidFill>
              </a:defRPr>
            </a:pPr>
            <a:r>
              <a:t>  Tập tin Portable Executable (.exe, .dll) là phương tiện phát tán mã độc phổ biến nhất trên môi trường hệ điều hành Windows.</a:t>
            </a:r>
          </a:p>
          <a:p>
            <a:pPr>
              <a:defRPr b="1" sz="1200">
                <a:solidFill>
                  <a:srgbClr val="008080"/>
                </a:solidFill>
              </a:defRPr>
            </a:pPr>
            <a:r>
              <a:t>• Hạn chế của Signature-based: </a:t>
            </a:r>
          </a:p>
          <a:p>
            <a:pPr>
              <a:spcAft>
                <a:spcPts val="800"/>
              </a:spcAft>
              <a:defRPr sz="1100">
                <a:solidFill>
                  <a:srgbClr val="212529"/>
                </a:solidFill>
              </a:defRPr>
            </a:pPr>
            <a:r>
              <a:t>  Các giải pháp diệt virus truyền thống dựa trên chữ ký (chữ ký MD5/SHA256, chuỗi bytecode) thất bại hoàn toàn trước mã độc biến hình (polymorphic/metamorphic) và mã độc mới (zero-day).</a:t>
            </a:r>
          </a:p>
          <a:p>
            <a:pPr>
              <a:defRPr b="1" sz="1200">
                <a:solidFill>
                  <a:srgbClr val="008080"/>
                </a:solidFill>
              </a:defRPr>
            </a:pPr>
            <a:r>
              <a:t>• Ưu thế của PE Header: </a:t>
            </a:r>
          </a:p>
          <a:p>
            <a:pPr>
              <a:spcAft>
                <a:spcPts val="800"/>
              </a:spcAft>
              <a:defRPr sz="1100">
                <a:solidFill>
                  <a:srgbClr val="212529"/>
                </a:solidFill>
              </a:defRPr>
            </a:pPr>
            <a:r>
              <a:t>  Phần PE Header chứa thông tin điều khiển nạp file vào RAM. Tập tin lành tính luôn chuẩn hóa theo Windows OS, trong khi mã độc thường có sai khác/bất thường cấu trúc.</a:t>
            </a:r>
          </a:p>
          <a:p>
            <a:pPr>
              <a:defRPr b="1" sz="1200">
                <a:solidFill>
                  <a:srgbClr val="008080"/>
                </a:solidFill>
              </a:defRPr>
            </a:pPr>
            <a:r>
              <a:t>• Hướng tiếp cận Machine Learning: </a:t>
            </a:r>
          </a:p>
          <a:p>
            <a:pPr>
              <a:spcAft>
                <a:spcPts val="800"/>
              </a:spcAft>
              <a:defRPr sz="1100">
                <a:solidFill>
                  <a:srgbClr val="212529"/>
                </a:solidFill>
              </a:defRPr>
            </a:pPr>
            <a:r>
              <a:t>  Huấn luyện mô hình học có giám sát trên các trường định dạng header để phát hiện mã độc mà không cần chạy file (Static Analysis an toàn).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058400" cy="274320"/>
          </a:xfrm>
          <a:prstGeom prst="rect">
            <a:avLst/>
          </a:prstGeom>
          <a:noFill/>
        </p:spPr>
        <p:txBody>
          <a:bodyPr wrap="square">
            <a:spAutoFit/>
          </a:bodyPr>
          <a:lstStyle/>
          <a:p>
            <a:pPr>
              <a:defRPr sz="1000" b="1">
                <a:solidFill>
                  <a:srgbClr val="008080"/>
                </a:solidFill>
              </a:defRPr>
            </a:pPr>
            <a:r>
              <a:t>BÁO CÁO GIỮA KÌ - AN TOÀN VÀ BẢO MẬT HỆ THỐNG THÔNG TIN</a:t>
            </a:r>
          </a:p>
        </p:txBody>
      </p:sp>
      <p:sp>
        <p:nvSpPr>
          <p:cNvPr id="3" name="TextBox 2"/>
          <p:cNvSpPr txBox="1"/>
          <p:nvPr/>
        </p:nvSpPr>
        <p:spPr>
          <a:xfrm>
            <a:off x="731520" y="594360"/>
            <a:ext cx="10515600" cy="548640"/>
          </a:xfrm>
          <a:prstGeom prst="rect">
            <a:avLst/>
          </a:prstGeom>
          <a:noFill/>
        </p:spPr>
        <p:txBody>
          <a:bodyPr wrap="square">
            <a:spAutoFit/>
          </a:bodyPr>
          <a:lstStyle/>
          <a:p>
            <a:pPr>
              <a:defRPr sz="2200" b="1">
                <a:solidFill>
                  <a:srgbClr val="1B365D"/>
                </a:solidFill>
              </a:defRPr>
            </a:pPr>
            <a:r>
              <a:t>2. Phương Pháp, Đặc Trưng PE Header &amp; Kết Quả Báo Cáo</a:t>
            </a:r>
          </a:p>
        </p:txBody>
      </p:sp>
      <p:sp>
        <p:nvSpPr>
          <p:cNvPr id="4" name="Rounded Rectangle 3"/>
          <p:cNvSpPr/>
          <p:nvPr/>
        </p:nvSpPr>
        <p:spPr>
          <a:xfrm>
            <a:off x="731520" y="1280160"/>
            <a:ext cx="5120640" cy="4937760"/>
          </a:xfrm>
          <a:prstGeom prst="roundRect">
            <a:avLst>
              <a:gd name="adj" fmla="val 3500"/>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7552" y="1463040"/>
            <a:ext cx="4608576" cy="347472"/>
          </a:xfrm>
          <a:prstGeom prst="rect">
            <a:avLst/>
          </a:prstGeom>
          <a:noFill/>
        </p:spPr>
        <p:txBody>
          <a:bodyPr wrap="square" lIns="0" tIns="0" rIns="0" bIns="0">
            <a:spAutoFit/>
          </a:bodyPr>
          <a:lstStyle/>
          <a:p>
            <a:pPr>
              <a:defRPr sz="1300" b="1">
                <a:solidFill>
                  <a:srgbClr val="1B365D"/>
                </a:solidFill>
              </a:defRPr>
            </a:pPr>
            <a:r>
              <a:t>Đặc Trưng Header &amp; Lựa Chọn Thuật Toán</a:t>
            </a:r>
          </a:p>
        </p:txBody>
      </p:sp>
      <p:sp>
        <p:nvSpPr>
          <p:cNvPr id="6" name="TextBox 5"/>
          <p:cNvSpPr txBox="1"/>
          <p:nvPr/>
        </p:nvSpPr>
        <p:spPr>
          <a:xfrm>
            <a:off x="987552" y="1874519"/>
            <a:ext cx="4608576" cy="4114800"/>
          </a:xfrm>
          <a:prstGeom prst="rect">
            <a:avLst/>
          </a:prstGeom>
          <a:noFill/>
        </p:spPr>
        <p:txBody>
          <a:bodyPr wrap="square" lIns="0" tIns="0" rIns="0" bIns="0">
            <a:spAutoFit/>
          </a:bodyPr>
          <a:lstStyle/>
          <a:p/>
          <a:p>
            <a:pPr>
              <a:defRPr b="1" sz="1200">
                <a:solidFill>
                  <a:srgbClr val="1B365D"/>
                </a:solidFill>
              </a:defRPr>
            </a:pPr>
            <a:r>
              <a:t>• Dữ liệu bài báo: </a:t>
            </a:r>
          </a:p>
          <a:p>
            <a:pPr>
              <a:spcAft>
                <a:spcPts val="800"/>
              </a:spcAft>
              <a:defRPr sz="1100">
                <a:solidFill>
                  <a:srgbClr val="212529"/>
                </a:solidFill>
              </a:defRPr>
            </a:pPr>
            <a:r>
              <a:t>  140.297 mẫu PE (44.214 malware từ VirusShare + 96.083 file sạch từ Windows).</a:t>
            </a:r>
          </a:p>
          <a:p>
            <a:pPr>
              <a:defRPr b="1" sz="1200">
                <a:solidFill>
                  <a:srgbClr val="1B365D"/>
                </a:solidFill>
              </a:defRPr>
            </a:pPr>
            <a:r>
              <a:t>• Tập đặc trưng ban đầu: </a:t>
            </a:r>
          </a:p>
          <a:p>
            <a:pPr>
              <a:spcAft>
                <a:spcPts val="800"/>
              </a:spcAft>
              <a:defRPr sz="1100">
                <a:solidFill>
                  <a:srgbClr val="212529"/>
                </a:solidFill>
              </a:defRPr>
            </a:pPr>
            <a:r>
              <a:t>  Khảo sát 54 trường PE Header (ImageBase, StackReserve, Characteristics...).</a:t>
            </a:r>
          </a:p>
          <a:p>
            <a:pPr>
              <a:defRPr b="1" sz="1200">
                <a:solidFill>
                  <a:srgbClr val="1B365D"/>
                </a:solidFill>
              </a:defRPr>
            </a:pPr>
            <a:r>
              <a:t>• Rút gọn đặc trưng: </a:t>
            </a:r>
          </a:p>
          <a:p>
            <a:pPr>
              <a:spcAft>
                <a:spcPts val="800"/>
              </a:spcAft>
              <a:defRPr sz="1100">
                <a:solidFill>
                  <a:srgbClr val="212529"/>
                </a:solidFill>
              </a:defRPr>
            </a:pPr>
            <a:r>
              <a:t>  Dùng Random Forest/Extra Trees loại bỏ các trường ít tác động (LoaderFlags, NumberOfRvaAndSizes...), giữ lại 44 trường cốt lõi.</a:t>
            </a:r>
          </a:p>
          <a:p>
            <a:pPr>
              <a:defRPr b="1" sz="1200">
                <a:solidFill>
                  <a:srgbClr val="1B365D"/>
                </a:solidFill>
              </a:defRPr>
            </a:pPr>
            <a:r>
              <a:t>• Khảo sát n_estimators: </a:t>
            </a:r>
          </a:p>
          <a:p>
            <a:pPr>
              <a:spcAft>
                <a:spcPts val="800"/>
              </a:spcAft>
              <a:defRPr sz="1100">
                <a:solidFill>
                  <a:srgbClr val="212529"/>
                </a:solidFill>
              </a:defRPr>
            </a:pPr>
            <a:r>
              <a:t>  Tăng số cây từ 1 đến 500. Kết quả cho thấy từ 100 cây trở đi, độ chính xác bắt đầu bão hòa (~99.71%).</a:t>
            </a:r>
          </a:p>
        </p:txBody>
      </p:sp>
      <p:sp>
        <p:nvSpPr>
          <p:cNvPr id="7" name="Rounded Rectangle 6"/>
          <p:cNvSpPr/>
          <p:nvPr/>
        </p:nvSpPr>
        <p:spPr>
          <a:xfrm>
            <a:off x="6217920" y="1280160"/>
            <a:ext cx="5212080" cy="4937760"/>
          </a:xfrm>
          <a:prstGeom prst="roundRect">
            <a:avLst>
              <a:gd name="adj" fmla="val 3500"/>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73952" y="1463040"/>
            <a:ext cx="4700016" cy="347472"/>
          </a:xfrm>
          <a:prstGeom prst="rect">
            <a:avLst/>
          </a:prstGeom>
          <a:noFill/>
        </p:spPr>
        <p:txBody>
          <a:bodyPr wrap="square" lIns="0" tIns="0" rIns="0" bIns="0">
            <a:spAutoFit/>
          </a:bodyPr>
          <a:lstStyle/>
          <a:p>
            <a:pPr>
              <a:defRPr sz="1300" b="1">
                <a:solidFill>
                  <a:srgbClr val="1B365D"/>
                </a:solidFill>
              </a:defRPr>
            </a:pPr>
            <a:r>
              <a:t>Kết Quả Công Bố Trong Bài Báo Gốc</a:t>
            </a:r>
          </a:p>
        </p:txBody>
      </p:sp>
      <p:sp>
        <p:nvSpPr>
          <p:cNvPr id="9" name="TextBox 8"/>
          <p:cNvSpPr txBox="1"/>
          <p:nvPr/>
        </p:nvSpPr>
        <p:spPr>
          <a:xfrm>
            <a:off x="6473952" y="1810512"/>
            <a:ext cx="4700016" cy="274320"/>
          </a:xfrm>
          <a:prstGeom prst="rect">
            <a:avLst/>
          </a:prstGeom>
          <a:noFill/>
        </p:spPr>
        <p:txBody>
          <a:bodyPr wrap="square" lIns="0" tIns="0" rIns="0" bIns="0">
            <a:spAutoFit/>
          </a:bodyPr>
          <a:lstStyle/>
          <a:p>
            <a:pPr>
              <a:defRPr sz="1100" b="1">
                <a:solidFill>
                  <a:srgbClr val="008080"/>
                </a:solidFill>
              </a:defRPr>
            </a:pPr>
            <a:r>
              <a:t>Bảng đối chiếu 5 thuật toán học máy (Thực nghiệm 1 &amp; 2):</a:t>
            </a:r>
          </a:p>
        </p:txBody>
      </p:sp>
      <p:graphicFrame>
        <p:nvGraphicFramePr>
          <p:cNvPr id="10" name="Table 9"/>
          <p:cNvGraphicFramePr>
            <a:graphicFrameLocks noGrp="1"/>
          </p:cNvGraphicFramePr>
          <p:nvPr/>
        </p:nvGraphicFramePr>
        <p:xfrm>
          <a:off x="6473952" y="2148840"/>
          <a:ext cx="4700016" cy="2057400"/>
        </p:xfrm>
        <a:graphic>
          <a:graphicData uri="http://schemas.openxmlformats.org/drawingml/2006/table">
            <a:tbl>
              <a:tblPr firstRow="1" bandRow="1">
                <a:tableStyleId>{5C22544A-7EE6-4342-B048-85BDC9FD1C3A}</a:tableStyleId>
              </a:tblPr>
              <a:tblGrid>
                <a:gridCol w="1682496"/>
                <a:gridCol w="1005840"/>
                <a:gridCol w="1005840"/>
                <a:gridCol w="1005840"/>
              </a:tblGrid>
              <a:tr h="342900">
                <a:tc>
                  <a:txBody>
                    <a:bodyPr/>
                    <a:lstStyle/>
                    <a:p>
                      <a:pPr algn="l">
                        <a:defRPr b="1" sz="950">
                          <a:solidFill>
                            <a:srgbClr val="FFFFFF"/>
                          </a:solidFill>
                        </a:defRPr>
                      </a:pPr>
                      <a:r>
                        <a:t>Thuật toán</a:t>
                      </a:r>
                    </a:p>
                  </a:txBody>
                  <a:tcPr>
                    <a:solidFill>
                      <a:srgbClr val="1B365D"/>
                    </a:solidFill>
                    <a:lnL w="12700" cmpd="s">
                      <a:solidFill>
                        <a:srgbClr val="1B365D"/>
                      </a:solidFill>
                    </a:lnL>
                    <a:lnR w="12700" cmpd="s">
                      <a:solidFill>
                        <a:srgbClr val="1B365D"/>
                      </a:solidFill>
                    </a:lnR>
                    <a:lnT w="12700" cmpd="s">
                      <a:solidFill>
                        <a:srgbClr val="1B365D"/>
                      </a:solidFill>
                    </a:lnT>
                    <a:lnB w="12700" cmpd="s">
                      <a:solidFill>
                        <a:srgbClr val="1B365D"/>
                      </a:solidFill>
                    </a:lnB>
                  </a:tcPr>
                </a:tc>
                <a:tc>
                  <a:txBody>
                    <a:bodyPr/>
                    <a:lstStyle/>
                    <a:p>
                      <a:pPr algn="ctr">
                        <a:defRPr b="1" sz="950">
                          <a:solidFill>
                            <a:srgbClr val="FFFFFF"/>
                          </a:solidFill>
                        </a:defRPr>
                      </a:pPr>
                      <a:r>
                        <a:t>Accuracy</a:t>
                      </a:r>
                    </a:p>
                  </a:txBody>
                  <a:tcPr>
                    <a:solidFill>
                      <a:srgbClr val="1B365D"/>
                    </a:solidFill>
                    <a:lnL w="12700" cmpd="s">
                      <a:solidFill>
                        <a:srgbClr val="1B365D"/>
                      </a:solidFill>
                    </a:lnL>
                    <a:lnR w="12700" cmpd="s">
                      <a:solidFill>
                        <a:srgbClr val="1B365D"/>
                      </a:solidFill>
                    </a:lnR>
                    <a:lnT w="12700" cmpd="s">
                      <a:solidFill>
                        <a:srgbClr val="1B365D"/>
                      </a:solidFill>
                    </a:lnT>
                    <a:lnB w="12700" cmpd="s">
                      <a:solidFill>
                        <a:srgbClr val="1B365D"/>
                      </a:solidFill>
                    </a:lnB>
                  </a:tcPr>
                </a:tc>
                <a:tc>
                  <a:txBody>
                    <a:bodyPr/>
                    <a:lstStyle/>
                    <a:p>
                      <a:pPr algn="ctr">
                        <a:defRPr b="1" sz="950">
                          <a:solidFill>
                            <a:srgbClr val="FFFFFF"/>
                          </a:solidFill>
                        </a:defRPr>
                      </a:pPr>
                      <a:r>
                        <a:t>10-Fold CV</a:t>
                      </a:r>
                    </a:p>
                  </a:txBody>
                  <a:tcPr>
                    <a:solidFill>
                      <a:srgbClr val="1B365D"/>
                    </a:solidFill>
                    <a:lnL w="12700" cmpd="s">
                      <a:solidFill>
                        <a:srgbClr val="1B365D"/>
                      </a:solidFill>
                    </a:lnL>
                    <a:lnR w="12700" cmpd="s">
                      <a:solidFill>
                        <a:srgbClr val="1B365D"/>
                      </a:solidFill>
                    </a:lnR>
                    <a:lnT w="12700" cmpd="s">
                      <a:solidFill>
                        <a:srgbClr val="1B365D"/>
                      </a:solidFill>
                    </a:lnT>
                    <a:lnB w="12700" cmpd="s">
                      <a:solidFill>
                        <a:srgbClr val="1B365D"/>
                      </a:solidFill>
                    </a:lnB>
                  </a:tcPr>
                </a:tc>
                <a:tc>
                  <a:txBody>
                    <a:bodyPr/>
                    <a:lstStyle/>
                    <a:p>
                      <a:pPr algn="ctr">
                        <a:defRPr b="1" sz="950">
                          <a:solidFill>
                            <a:srgbClr val="FFFFFF"/>
                          </a:solidFill>
                        </a:defRPr>
                      </a:pPr>
                      <a:r>
                        <a:t>Train Time</a:t>
                      </a:r>
                    </a:p>
                  </a:txBody>
                  <a:tcPr>
                    <a:solidFill>
                      <a:srgbClr val="1B365D"/>
                    </a:solidFill>
                    <a:lnL w="12700" cmpd="s">
                      <a:solidFill>
                        <a:srgbClr val="1B365D"/>
                      </a:solidFill>
                    </a:lnL>
                    <a:lnR w="12700" cmpd="s">
                      <a:solidFill>
                        <a:srgbClr val="1B365D"/>
                      </a:solidFill>
                    </a:lnR>
                    <a:lnT w="12700" cmpd="s">
                      <a:solidFill>
                        <a:srgbClr val="1B365D"/>
                      </a:solidFill>
                    </a:lnT>
                    <a:lnB w="12700" cmpd="s">
                      <a:solidFill>
                        <a:srgbClr val="1B365D"/>
                      </a:solidFill>
                    </a:lnB>
                  </a:tcPr>
                </a:tc>
              </a:tr>
              <a:tr h="342900">
                <a:tc>
                  <a:txBody>
                    <a:bodyPr/>
                    <a:lstStyle/>
                    <a:p>
                      <a:pPr algn="l">
                        <a:defRPr sz="950">
                          <a:solidFill>
                            <a:srgbClr val="212529"/>
                          </a:solidFill>
                        </a:defRPr>
                      </a:pPr>
                      <a:r>
                        <a:t>AdaBoost</a:t>
                      </a:r>
                    </a:p>
                  </a:txBody>
                  <a:tcPr>
                    <a:solidFill>
                      <a:srgbClr val="FFFFFF"/>
                    </a:solidFill>
                    <a:lnL w="12700" cmpd="s">
                      <a:solidFill>
                        <a:srgbClr val="CBD5E1"/>
                      </a:solidFill>
                    </a:lnL>
                    <a:lnR w="12700" cmpd="s">
                      <a:solidFill>
                        <a:srgbClr val="CBD5E1"/>
                      </a:solidFill>
                    </a:lnR>
                    <a:lnT w="12700" cmpd="s">
                      <a:solidFill>
                        <a:srgbClr val="CBD5E1"/>
                      </a:solidFill>
                    </a:lnT>
                    <a:lnB w="12700" cmpd="s">
                      <a:solidFill>
                        <a:srgbClr val="CBD5E1"/>
                      </a:solidFill>
                    </a:lnB>
                  </a:tcPr>
                </a:tc>
                <a:tc>
                  <a:txBody>
                    <a:bodyPr/>
                    <a:lstStyle/>
                    <a:p>
                      <a:pPr algn="ctr">
                        <a:defRPr sz="950">
                          <a:solidFill>
                            <a:srgbClr val="212529"/>
                          </a:solidFill>
                        </a:defRPr>
                      </a:pPr>
                      <a:r>
                        <a:t>99.12%</a:t>
                      </a:r>
                    </a:p>
                  </a:txBody>
                  <a:tcPr>
                    <a:solidFill>
                      <a:srgbClr val="FFFFFF"/>
                    </a:solidFill>
                    <a:lnL w="12700" cmpd="s">
                      <a:solidFill>
                        <a:srgbClr val="CBD5E1"/>
                      </a:solidFill>
                    </a:lnL>
                    <a:lnR w="12700" cmpd="s">
                      <a:solidFill>
                        <a:srgbClr val="CBD5E1"/>
                      </a:solidFill>
                    </a:lnR>
                    <a:lnT w="12700" cmpd="s">
                      <a:solidFill>
                        <a:srgbClr val="CBD5E1"/>
                      </a:solidFill>
                    </a:lnT>
                    <a:lnB w="12700" cmpd="s">
                      <a:solidFill>
                        <a:srgbClr val="CBD5E1"/>
                      </a:solidFill>
                    </a:lnB>
                  </a:tcPr>
                </a:tc>
                <a:tc>
                  <a:txBody>
                    <a:bodyPr/>
                    <a:lstStyle/>
                    <a:p>
                      <a:pPr algn="ctr">
                        <a:defRPr sz="950">
                          <a:solidFill>
                            <a:srgbClr val="212529"/>
                          </a:solidFill>
                        </a:defRPr>
                      </a:pPr>
                      <a:r>
                        <a:t>99.11%</a:t>
                      </a:r>
                    </a:p>
                  </a:txBody>
                  <a:tcPr>
                    <a:solidFill>
                      <a:srgbClr val="FFFFFF"/>
                    </a:solidFill>
                    <a:lnL w="12700" cmpd="s">
                      <a:solidFill>
                        <a:srgbClr val="CBD5E1"/>
                      </a:solidFill>
                    </a:lnL>
                    <a:lnR w="12700" cmpd="s">
                      <a:solidFill>
                        <a:srgbClr val="CBD5E1"/>
                      </a:solidFill>
                    </a:lnR>
                    <a:lnT w="12700" cmpd="s">
                      <a:solidFill>
                        <a:srgbClr val="CBD5E1"/>
                      </a:solidFill>
                    </a:lnT>
                    <a:lnB w="12700" cmpd="s">
                      <a:solidFill>
                        <a:srgbClr val="CBD5E1"/>
                      </a:solidFill>
                    </a:lnB>
                  </a:tcPr>
                </a:tc>
                <a:tc>
                  <a:txBody>
                    <a:bodyPr/>
                    <a:lstStyle/>
                    <a:p>
                      <a:pPr algn="ctr">
                        <a:defRPr sz="950">
                          <a:solidFill>
                            <a:srgbClr val="212529"/>
                          </a:solidFill>
                        </a:defRPr>
                      </a:pPr>
                      <a:r>
                        <a:t>12.83 s</a:t>
                      </a:r>
                    </a:p>
                  </a:txBody>
                  <a:tcPr>
                    <a:solidFill>
                      <a:srgbClr val="FFFFFF"/>
                    </a:solidFill>
                    <a:lnL w="12700" cmpd="s">
                      <a:solidFill>
                        <a:srgbClr val="CBD5E1"/>
                      </a:solidFill>
                    </a:lnL>
                    <a:lnR w="12700" cmpd="s">
                      <a:solidFill>
                        <a:srgbClr val="CBD5E1"/>
                      </a:solidFill>
                    </a:lnR>
                    <a:lnT w="12700" cmpd="s">
                      <a:solidFill>
                        <a:srgbClr val="CBD5E1"/>
                      </a:solidFill>
                    </a:lnT>
                    <a:lnB w="12700" cmpd="s">
                      <a:solidFill>
                        <a:srgbClr val="CBD5E1"/>
                      </a:solidFill>
                    </a:lnB>
                  </a:tcPr>
                </a:tc>
              </a:tr>
              <a:tr h="342900">
                <a:tc>
                  <a:txBody>
                    <a:bodyPr/>
                    <a:lstStyle/>
                    <a:p>
                      <a:pPr algn="l">
                        <a:defRPr sz="950">
                          <a:solidFill>
                            <a:srgbClr val="212529"/>
                          </a:solidFill>
                        </a:defRPr>
                      </a:pPr>
                      <a:r>
                        <a:t>GradientBoosting</a:t>
                      </a:r>
                    </a:p>
                  </a:txBody>
                  <a:tcPr>
                    <a:solidFill>
                      <a:srgbClr val="F8FAFC"/>
                    </a:solidFill>
                    <a:lnL w="12700" cmpd="s">
                      <a:solidFill>
                        <a:srgbClr val="CBD5E1"/>
                      </a:solidFill>
                    </a:lnL>
                    <a:lnR w="12700" cmpd="s">
                      <a:solidFill>
                        <a:srgbClr val="CBD5E1"/>
                      </a:solidFill>
                    </a:lnR>
                    <a:lnT w="12700" cmpd="s">
                      <a:solidFill>
                        <a:srgbClr val="CBD5E1"/>
                      </a:solidFill>
                    </a:lnT>
                    <a:lnB w="12700" cmpd="s">
                      <a:solidFill>
                        <a:srgbClr val="CBD5E1"/>
                      </a:solidFill>
                    </a:lnB>
                  </a:tcPr>
                </a:tc>
                <a:tc>
                  <a:txBody>
                    <a:bodyPr/>
                    <a:lstStyle/>
                    <a:p>
                      <a:pPr algn="ctr">
                        <a:defRPr sz="950">
                          <a:solidFill>
                            <a:srgbClr val="212529"/>
                          </a:solidFill>
                        </a:defRPr>
                      </a:pPr>
                      <a:r>
                        <a:t>99.30%</a:t>
                      </a:r>
                    </a:p>
                  </a:txBody>
                  <a:tcPr>
                    <a:solidFill>
                      <a:srgbClr val="F8FAFC"/>
                    </a:solidFill>
                    <a:lnL w="12700" cmpd="s">
                      <a:solidFill>
                        <a:srgbClr val="CBD5E1"/>
                      </a:solidFill>
                    </a:lnL>
                    <a:lnR w="12700" cmpd="s">
                      <a:solidFill>
                        <a:srgbClr val="CBD5E1"/>
                      </a:solidFill>
                    </a:lnR>
                    <a:lnT w="12700" cmpd="s">
                      <a:solidFill>
                        <a:srgbClr val="CBD5E1"/>
                      </a:solidFill>
                    </a:lnT>
                    <a:lnB w="12700" cmpd="s">
                      <a:solidFill>
                        <a:srgbClr val="CBD5E1"/>
                      </a:solidFill>
                    </a:lnB>
                  </a:tcPr>
                </a:tc>
                <a:tc>
                  <a:txBody>
                    <a:bodyPr/>
                    <a:lstStyle/>
                    <a:p>
                      <a:pPr algn="ctr">
                        <a:defRPr sz="950">
                          <a:solidFill>
                            <a:srgbClr val="212529"/>
                          </a:solidFill>
                        </a:defRPr>
                      </a:pPr>
                      <a:r>
                        <a:t>99.31%</a:t>
                      </a:r>
                    </a:p>
                  </a:txBody>
                  <a:tcPr>
                    <a:solidFill>
                      <a:srgbClr val="F8FAFC"/>
                    </a:solidFill>
                    <a:lnL w="12700" cmpd="s">
                      <a:solidFill>
                        <a:srgbClr val="CBD5E1"/>
                      </a:solidFill>
                    </a:lnL>
                    <a:lnR w="12700" cmpd="s">
                      <a:solidFill>
                        <a:srgbClr val="CBD5E1"/>
                      </a:solidFill>
                    </a:lnR>
                    <a:lnT w="12700" cmpd="s">
                      <a:solidFill>
                        <a:srgbClr val="CBD5E1"/>
                      </a:solidFill>
                    </a:lnT>
                    <a:lnB w="12700" cmpd="s">
                      <a:solidFill>
                        <a:srgbClr val="CBD5E1"/>
                      </a:solidFill>
                    </a:lnB>
                  </a:tcPr>
                </a:tc>
                <a:tc>
                  <a:txBody>
                    <a:bodyPr/>
                    <a:lstStyle/>
                    <a:p>
                      <a:pPr algn="ctr">
                        <a:defRPr sz="950">
                          <a:solidFill>
                            <a:srgbClr val="212529"/>
                          </a:solidFill>
                        </a:defRPr>
                      </a:pPr>
                      <a:r>
                        <a:t>30.76 s</a:t>
                      </a:r>
                    </a:p>
                  </a:txBody>
                  <a:tcPr>
                    <a:solidFill>
                      <a:srgbClr val="F8FAFC"/>
                    </a:solidFill>
                    <a:lnL w="12700" cmpd="s">
                      <a:solidFill>
                        <a:srgbClr val="CBD5E1"/>
                      </a:solidFill>
                    </a:lnL>
                    <a:lnR w="12700" cmpd="s">
                      <a:solidFill>
                        <a:srgbClr val="CBD5E1"/>
                      </a:solidFill>
                    </a:lnR>
                    <a:lnT w="12700" cmpd="s">
                      <a:solidFill>
                        <a:srgbClr val="CBD5E1"/>
                      </a:solidFill>
                    </a:lnT>
                    <a:lnB w="12700" cmpd="s">
                      <a:solidFill>
                        <a:srgbClr val="CBD5E1"/>
                      </a:solidFill>
                    </a:lnB>
                  </a:tcPr>
                </a:tc>
              </a:tr>
              <a:tr h="342900">
                <a:tc>
                  <a:txBody>
                    <a:bodyPr/>
                    <a:lstStyle/>
                    <a:p>
                      <a:pPr algn="l">
                        <a:defRPr sz="950">
                          <a:solidFill>
                            <a:srgbClr val="212529"/>
                          </a:solidFill>
                        </a:defRPr>
                      </a:pPr>
                      <a:r>
                        <a:t>DecisionTree</a:t>
                      </a:r>
                    </a:p>
                  </a:txBody>
                  <a:tcPr>
                    <a:solidFill>
                      <a:srgbClr val="FFFFFF"/>
                    </a:solidFill>
                    <a:lnL w="12700" cmpd="s">
                      <a:solidFill>
                        <a:srgbClr val="CBD5E1"/>
                      </a:solidFill>
                    </a:lnL>
                    <a:lnR w="12700" cmpd="s">
                      <a:solidFill>
                        <a:srgbClr val="CBD5E1"/>
                      </a:solidFill>
                    </a:lnR>
                    <a:lnT w="12700" cmpd="s">
                      <a:solidFill>
                        <a:srgbClr val="CBD5E1"/>
                      </a:solidFill>
                    </a:lnT>
                    <a:lnB w="12700" cmpd="s">
                      <a:solidFill>
                        <a:srgbClr val="CBD5E1"/>
                      </a:solidFill>
                    </a:lnB>
                  </a:tcPr>
                </a:tc>
                <a:tc>
                  <a:txBody>
                    <a:bodyPr/>
                    <a:lstStyle/>
                    <a:p>
                      <a:pPr algn="ctr">
                        <a:defRPr sz="950">
                          <a:solidFill>
                            <a:srgbClr val="212529"/>
                          </a:solidFill>
                        </a:defRPr>
                      </a:pPr>
                      <a:r>
                        <a:t>99.34%</a:t>
                      </a:r>
                    </a:p>
                  </a:txBody>
                  <a:tcPr>
                    <a:solidFill>
                      <a:srgbClr val="FFFFFF"/>
                    </a:solidFill>
                    <a:lnL w="12700" cmpd="s">
                      <a:solidFill>
                        <a:srgbClr val="CBD5E1"/>
                      </a:solidFill>
                    </a:lnL>
                    <a:lnR w="12700" cmpd="s">
                      <a:solidFill>
                        <a:srgbClr val="CBD5E1"/>
                      </a:solidFill>
                    </a:lnR>
                    <a:lnT w="12700" cmpd="s">
                      <a:solidFill>
                        <a:srgbClr val="CBD5E1"/>
                      </a:solidFill>
                    </a:lnT>
                    <a:lnB w="12700" cmpd="s">
                      <a:solidFill>
                        <a:srgbClr val="CBD5E1"/>
                      </a:solidFill>
                    </a:lnB>
                  </a:tcPr>
                </a:tc>
                <a:tc>
                  <a:txBody>
                    <a:bodyPr/>
                    <a:lstStyle/>
                    <a:p>
                      <a:pPr algn="ctr">
                        <a:defRPr sz="950">
                          <a:solidFill>
                            <a:srgbClr val="212529"/>
                          </a:solidFill>
                        </a:defRPr>
                      </a:pPr>
                      <a:r>
                        <a:t>99.34%</a:t>
                      </a:r>
                    </a:p>
                  </a:txBody>
                  <a:tcPr>
                    <a:solidFill>
                      <a:srgbClr val="FFFFFF"/>
                    </a:solidFill>
                    <a:lnL w="12700" cmpd="s">
                      <a:solidFill>
                        <a:srgbClr val="CBD5E1"/>
                      </a:solidFill>
                    </a:lnL>
                    <a:lnR w="12700" cmpd="s">
                      <a:solidFill>
                        <a:srgbClr val="CBD5E1"/>
                      </a:solidFill>
                    </a:lnR>
                    <a:lnT w="12700" cmpd="s">
                      <a:solidFill>
                        <a:srgbClr val="CBD5E1"/>
                      </a:solidFill>
                    </a:lnT>
                    <a:lnB w="12700" cmpd="s">
                      <a:solidFill>
                        <a:srgbClr val="CBD5E1"/>
                      </a:solidFill>
                    </a:lnB>
                  </a:tcPr>
                </a:tc>
                <a:tc>
                  <a:txBody>
                    <a:bodyPr/>
                    <a:lstStyle/>
                    <a:p>
                      <a:pPr algn="ctr">
                        <a:defRPr sz="950">
                          <a:solidFill>
                            <a:srgbClr val="212529"/>
                          </a:solidFill>
                        </a:defRPr>
                      </a:pPr>
                      <a:r>
                        <a:t>0.98 s</a:t>
                      </a:r>
                    </a:p>
                  </a:txBody>
                  <a:tcPr>
                    <a:solidFill>
                      <a:srgbClr val="FFFFFF"/>
                    </a:solidFill>
                    <a:lnL w="12700" cmpd="s">
                      <a:solidFill>
                        <a:srgbClr val="CBD5E1"/>
                      </a:solidFill>
                    </a:lnL>
                    <a:lnR w="12700" cmpd="s">
                      <a:solidFill>
                        <a:srgbClr val="CBD5E1"/>
                      </a:solidFill>
                    </a:lnR>
                    <a:lnT w="12700" cmpd="s">
                      <a:solidFill>
                        <a:srgbClr val="CBD5E1"/>
                      </a:solidFill>
                    </a:lnT>
                    <a:lnB w="12700" cmpd="s">
                      <a:solidFill>
                        <a:srgbClr val="CBD5E1"/>
                      </a:solidFill>
                    </a:lnB>
                  </a:tcPr>
                </a:tc>
              </a:tr>
              <a:tr h="342900">
                <a:tc>
                  <a:txBody>
                    <a:bodyPr/>
                    <a:lstStyle/>
                    <a:p>
                      <a:pPr algn="l">
                        <a:defRPr sz="950">
                          <a:solidFill>
                            <a:srgbClr val="212529"/>
                          </a:solidFill>
                        </a:defRPr>
                      </a:pPr>
                      <a:r>
                        <a:t>ExtraTrees</a:t>
                      </a:r>
                    </a:p>
                  </a:txBody>
                  <a:tcPr>
                    <a:solidFill>
                      <a:srgbClr val="F8FAFC"/>
                    </a:solidFill>
                    <a:lnL w="12700" cmpd="s">
                      <a:solidFill>
                        <a:srgbClr val="CBD5E1"/>
                      </a:solidFill>
                    </a:lnL>
                    <a:lnR w="12700" cmpd="s">
                      <a:solidFill>
                        <a:srgbClr val="CBD5E1"/>
                      </a:solidFill>
                    </a:lnR>
                    <a:lnT w="12700" cmpd="s">
                      <a:solidFill>
                        <a:srgbClr val="CBD5E1"/>
                      </a:solidFill>
                    </a:lnT>
                    <a:lnB w="12700" cmpd="s">
                      <a:solidFill>
                        <a:srgbClr val="CBD5E1"/>
                      </a:solidFill>
                    </a:lnB>
                  </a:tcPr>
                </a:tc>
                <a:tc>
                  <a:txBody>
                    <a:bodyPr/>
                    <a:lstStyle/>
                    <a:p>
                      <a:pPr algn="ctr">
                        <a:defRPr sz="950">
                          <a:solidFill>
                            <a:srgbClr val="212529"/>
                          </a:solidFill>
                        </a:defRPr>
                      </a:pPr>
                      <a:r>
                        <a:t>99.69%</a:t>
                      </a:r>
                    </a:p>
                  </a:txBody>
                  <a:tcPr>
                    <a:solidFill>
                      <a:srgbClr val="F8FAFC"/>
                    </a:solidFill>
                    <a:lnL w="12700" cmpd="s">
                      <a:solidFill>
                        <a:srgbClr val="CBD5E1"/>
                      </a:solidFill>
                    </a:lnL>
                    <a:lnR w="12700" cmpd="s">
                      <a:solidFill>
                        <a:srgbClr val="CBD5E1"/>
                      </a:solidFill>
                    </a:lnR>
                    <a:lnT w="12700" cmpd="s">
                      <a:solidFill>
                        <a:srgbClr val="CBD5E1"/>
                      </a:solidFill>
                    </a:lnT>
                    <a:lnB w="12700" cmpd="s">
                      <a:solidFill>
                        <a:srgbClr val="CBD5E1"/>
                      </a:solidFill>
                    </a:lnB>
                  </a:tcPr>
                </a:tc>
                <a:tc>
                  <a:txBody>
                    <a:bodyPr/>
                    <a:lstStyle/>
                    <a:p>
                      <a:pPr algn="ctr">
                        <a:defRPr sz="950">
                          <a:solidFill>
                            <a:srgbClr val="212529"/>
                          </a:solidFill>
                        </a:defRPr>
                      </a:pPr>
                      <a:r>
                        <a:t>99.71%</a:t>
                      </a:r>
                    </a:p>
                  </a:txBody>
                  <a:tcPr>
                    <a:solidFill>
                      <a:srgbClr val="F8FAFC"/>
                    </a:solidFill>
                    <a:lnL w="12700" cmpd="s">
                      <a:solidFill>
                        <a:srgbClr val="CBD5E1"/>
                      </a:solidFill>
                    </a:lnL>
                    <a:lnR w="12700" cmpd="s">
                      <a:solidFill>
                        <a:srgbClr val="CBD5E1"/>
                      </a:solidFill>
                    </a:lnR>
                    <a:lnT w="12700" cmpd="s">
                      <a:solidFill>
                        <a:srgbClr val="CBD5E1"/>
                      </a:solidFill>
                    </a:lnT>
                    <a:lnB w="12700" cmpd="s">
                      <a:solidFill>
                        <a:srgbClr val="CBD5E1"/>
                      </a:solidFill>
                    </a:lnB>
                  </a:tcPr>
                </a:tc>
                <a:tc>
                  <a:txBody>
                    <a:bodyPr/>
                    <a:lstStyle/>
                    <a:p>
                      <a:pPr algn="ctr">
                        <a:defRPr sz="950">
                          <a:solidFill>
                            <a:srgbClr val="212529"/>
                          </a:solidFill>
                        </a:defRPr>
                      </a:pPr>
                      <a:r>
                        <a:t>9.74 s</a:t>
                      </a:r>
                    </a:p>
                  </a:txBody>
                  <a:tcPr>
                    <a:solidFill>
                      <a:srgbClr val="F8FAFC"/>
                    </a:solidFill>
                    <a:lnL w="12700" cmpd="s">
                      <a:solidFill>
                        <a:srgbClr val="CBD5E1"/>
                      </a:solidFill>
                    </a:lnL>
                    <a:lnR w="12700" cmpd="s">
                      <a:solidFill>
                        <a:srgbClr val="CBD5E1"/>
                      </a:solidFill>
                    </a:lnR>
                    <a:lnT w="12700" cmpd="s">
                      <a:solidFill>
                        <a:srgbClr val="CBD5E1"/>
                      </a:solidFill>
                    </a:lnT>
                    <a:lnB w="12700" cmpd="s">
                      <a:solidFill>
                        <a:srgbClr val="CBD5E1"/>
                      </a:solidFill>
                    </a:lnB>
                  </a:tcPr>
                </a:tc>
              </a:tr>
              <a:tr h="342900">
                <a:tc>
                  <a:txBody>
                    <a:bodyPr/>
                    <a:lstStyle/>
                    <a:p>
                      <a:pPr algn="l">
                        <a:defRPr sz="950" b="1">
                          <a:solidFill>
                            <a:srgbClr val="1B365D"/>
                          </a:solidFill>
                        </a:defRPr>
                      </a:pPr>
                      <a:r>
                        <a:t>RandomForest (Tốt nhất)</a:t>
                      </a:r>
                    </a:p>
                  </a:txBody>
                  <a:tcPr>
                    <a:solidFill>
                      <a:srgbClr val="E6F5F5"/>
                    </a:solidFill>
                    <a:lnL w="12700" cmpd="s">
                      <a:solidFill>
                        <a:srgbClr val="CBD5E1"/>
                      </a:solidFill>
                    </a:lnL>
                    <a:lnR w="12700" cmpd="s">
                      <a:solidFill>
                        <a:srgbClr val="CBD5E1"/>
                      </a:solidFill>
                    </a:lnR>
                    <a:lnT w="12700" cmpd="s">
                      <a:solidFill>
                        <a:srgbClr val="CBD5E1"/>
                      </a:solidFill>
                    </a:lnT>
                    <a:lnB w="12700" cmpd="s">
                      <a:solidFill>
                        <a:srgbClr val="CBD5E1"/>
                      </a:solidFill>
                    </a:lnB>
                  </a:tcPr>
                </a:tc>
                <a:tc>
                  <a:txBody>
                    <a:bodyPr/>
                    <a:lstStyle/>
                    <a:p>
                      <a:pPr algn="ctr">
                        <a:defRPr sz="950" b="1">
                          <a:solidFill>
                            <a:srgbClr val="1B365D"/>
                          </a:solidFill>
                        </a:defRPr>
                      </a:pPr>
                      <a:r>
                        <a:t>99.71%</a:t>
                      </a:r>
                    </a:p>
                  </a:txBody>
                  <a:tcPr>
                    <a:solidFill>
                      <a:srgbClr val="E6F5F5"/>
                    </a:solidFill>
                    <a:lnL w="12700" cmpd="s">
                      <a:solidFill>
                        <a:srgbClr val="CBD5E1"/>
                      </a:solidFill>
                    </a:lnL>
                    <a:lnR w="12700" cmpd="s">
                      <a:solidFill>
                        <a:srgbClr val="CBD5E1"/>
                      </a:solidFill>
                    </a:lnR>
                    <a:lnT w="12700" cmpd="s">
                      <a:solidFill>
                        <a:srgbClr val="CBD5E1"/>
                      </a:solidFill>
                    </a:lnT>
                    <a:lnB w="12700" cmpd="s">
                      <a:solidFill>
                        <a:srgbClr val="CBD5E1"/>
                      </a:solidFill>
                    </a:lnB>
                  </a:tcPr>
                </a:tc>
                <a:tc>
                  <a:txBody>
                    <a:bodyPr/>
                    <a:lstStyle/>
                    <a:p>
                      <a:pPr algn="ctr">
                        <a:defRPr sz="950" b="1">
                          <a:solidFill>
                            <a:srgbClr val="1B365D"/>
                          </a:solidFill>
                        </a:defRPr>
                      </a:pPr>
                      <a:r>
                        <a:t>99.72%</a:t>
                      </a:r>
                    </a:p>
                  </a:txBody>
                  <a:tcPr>
                    <a:solidFill>
                      <a:srgbClr val="E6F5F5"/>
                    </a:solidFill>
                    <a:lnL w="12700" cmpd="s">
                      <a:solidFill>
                        <a:srgbClr val="CBD5E1"/>
                      </a:solidFill>
                    </a:lnL>
                    <a:lnR w="12700" cmpd="s">
                      <a:solidFill>
                        <a:srgbClr val="CBD5E1"/>
                      </a:solidFill>
                    </a:lnR>
                    <a:lnT w="12700" cmpd="s">
                      <a:solidFill>
                        <a:srgbClr val="CBD5E1"/>
                      </a:solidFill>
                    </a:lnT>
                    <a:lnB w="12700" cmpd="s">
                      <a:solidFill>
                        <a:srgbClr val="CBD5E1"/>
                      </a:solidFill>
                    </a:lnB>
                  </a:tcPr>
                </a:tc>
                <a:tc>
                  <a:txBody>
                    <a:bodyPr/>
                    <a:lstStyle/>
                    <a:p>
                      <a:pPr algn="ctr">
                        <a:defRPr sz="950" b="1">
                          <a:solidFill>
                            <a:srgbClr val="1B365D"/>
                          </a:solidFill>
                        </a:defRPr>
                      </a:pPr>
                      <a:r>
                        <a:t>13.17 s</a:t>
                      </a:r>
                    </a:p>
                  </a:txBody>
                  <a:tcPr>
                    <a:solidFill>
                      <a:srgbClr val="E6F5F5"/>
                    </a:solidFill>
                    <a:lnL w="12700" cmpd="s">
                      <a:solidFill>
                        <a:srgbClr val="CBD5E1"/>
                      </a:solidFill>
                    </a:lnL>
                    <a:lnR w="12700" cmpd="s">
                      <a:solidFill>
                        <a:srgbClr val="CBD5E1"/>
                      </a:solidFill>
                    </a:lnR>
                    <a:lnT w="12700" cmpd="s">
                      <a:solidFill>
                        <a:srgbClr val="CBD5E1"/>
                      </a:solidFill>
                    </a:lnT>
                    <a:lnB w="12700" cmpd="s">
                      <a:solidFill>
                        <a:srgbClr val="CBD5E1"/>
                      </a:solidFill>
                    </a:lnB>
                  </a:tcPr>
                </a:tc>
              </a:tr>
            </a:tbl>
          </a:graphicData>
        </a:graphic>
      </p:graphicFrame>
      <p:sp>
        <p:nvSpPr>
          <p:cNvPr id="11" name="TextBox 10"/>
          <p:cNvSpPr txBox="1"/>
          <p:nvPr/>
        </p:nvSpPr>
        <p:spPr>
          <a:xfrm>
            <a:off x="6473952" y="4343400"/>
            <a:ext cx="4700016" cy="1691640"/>
          </a:xfrm>
          <a:prstGeom prst="rect">
            <a:avLst/>
          </a:prstGeom>
          <a:noFill/>
        </p:spPr>
        <p:txBody>
          <a:bodyPr wrap="square" lIns="0" tIns="0" rIns="0" bIns="0">
            <a:spAutoFit/>
          </a:bodyPr>
          <a:lstStyle/>
          <a:p>
            <a:pPr>
              <a:spcAft>
                <a:spcPts val="400"/>
              </a:spcAft>
              <a:defRPr sz="950">
                <a:solidFill>
                  <a:srgbClr val="212529"/>
                </a:solidFill>
              </a:defRPr>
            </a:pPr>
            <a:r>
              <a:t>• Kết luận của tác giả: Random Forest 100 cây đạt độ chính xác cao nhất (99.71%), vượt trội các mô hình còn lại.</a:t>
            </a:r>
          </a:p>
          <a:p>
            <a:pPr>
              <a:defRPr sz="950">
                <a:solidFill>
                  <a:srgbClr val="212529"/>
                </a:solidFill>
              </a:defRPr>
            </a:pPr>
            <a:r>
              <a:t>• Tối ưu đặc trưng: Khi giảm từ 44 xuống 13-15 đặc trưng cốt lõi, độ chính xác chỉ giảm 0.09% nhưng thời gian huấn luyện giảm 70% (từ 13.17s xuống 3.88s).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058400" cy="274320"/>
          </a:xfrm>
          <a:prstGeom prst="rect">
            <a:avLst/>
          </a:prstGeom>
          <a:noFill/>
        </p:spPr>
        <p:txBody>
          <a:bodyPr wrap="square">
            <a:spAutoFit/>
          </a:bodyPr>
          <a:lstStyle/>
          <a:p>
            <a:pPr>
              <a:defRPr sz="1000" b="1">
                <a:solidFill>
                  <a:srgbClr val="008080"/>
                </a:solidFill>
              </a:defRPr>
            </a:pPr>
            <a:r>
              <a:t>BÁO CÁO GIỮA KÌ - AN TOÀN VÀ BẢO MẬT HỆ THỐNG THÔNG TIN</a:t>
            </a:r>
          </a:p>
        </p:txBody>
      </p:sp>
      <p:sp>
        <p:nvSpPr>
          <p:cNvPr id="3" name="TextBox 2"/>
          <p:cNvSpPr txBox="1"/>
          <p:nvPr/>
        </p:nvSpPr>
        <p:spPr>
          <a:xfrm>
            <a:off x="731520" y="594360"/>
            <a:ext cx="10515600" cy="548640"/>
          </a:xfrm>
          <a:prstGeom prst="rect">
            <a:avLst/>
          </a:prstGeom>
          <a:noFill/>
        </p:spPr>
        <p:txBody>
          <a:bodyPr wrap="square">
            <a:spAutoFit/>
          </a:bodyPr>
          <a:lstStyle/>
          <a:p>
            <a:pPr>
              <a:defRPr sz="2200" b="1">
                <a:solidFill>
                  <a:srgbClr val="1B365D"/>
                </a:solidFill>
              </a:defRPr>
            </a:pPr>
            <a:r>
              <a:t>3. Nguồn Dữ Liệu EMBER 2018 &amp; Chiến Lược Lấy Mẫu Phân Tầng</a:t>
            </a:r>
          </a:p>
        </p:txBody>
      </p:sp>
      <p:sp>
        <p:nvSpPr>
          <p:cNvPr id="4" name="Rounded Rectangle 3"/>
          <p:cNvSpPr/>
          <p:nvPr/>
        </p:nvSpPr>
        <p:spPr>
          <a:xfrm>
            <a:off x="731520" y="1280160"/>
            <a:ext cx="5120640" cy="4937760"/>
          </a:xfrm>
          <a:prstGeom prst="roundRect">
            <a:avLst>
              <a:gd name="adj" fmla="val 3500"/>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7552" y="1463040"/>
            <a:ext cx="4608576" cy="347472"/>
          </a:xfrm>
          <a:prstGeom prst="rect">
            <a:avLst/>
          </a:prstGeom>
          <a:noFill/>
        </p:spPr>
        <p:txBody>
          <a:bodyPr wrap="square" lIns="0" tIns="0" rIns="0" bIns="0">
            <a:spAutoFit/>
          </a:bodyPr>
          <a:lstStyle/>
          <a:p>
            <a:pPr>
              <a:defRPr sz="1300" b="1">
                <a:solidFill>
                  <a:srgbClr val="1B365D"/>
                </a:solidFill>
              </a:defRPr>
            </a:pPr>
            <a:r>
              <a:t>Đặc Trưng Dữ Liệu Benchmark EMBER 2018</a:t>
            </a:r>
          </a:p>
        </p:txBody>
      </p:sp>
      <p:sp>
        <p:nvSpPr>
          <p:cNvPr id="6" name="TextBox 5"/>
          <p:cNvSpPr txBox="1"/>
          <p:nvPr/>
        </p:nvSpPr>
        <p:spPr>
          <a:xfrm>
            <a:off x="987552" y="1874519"/>
            <a:ext cx="4608576" cy="4114800"/>
          </a:xfrm>
          <a:prstGeom prst="rect">
            <a:avLst/>
          </a:prstGeom>
          <a:noFill/>
        </p:spPr>
        <p:txBody>
          <a:bodyPr wrap="square" lIns="0" tIns="0" rIns="0" bIns="0">
            <a:spAutoFit/>
          </a:bodyPr>
          <a:lstStyle/>
          <a:p/>
          <a:p>
            <a:pPr>
              <a:defRPr b="1" sz="1200">
                <a:solidFill>
                  <a:srgbClr val="1B365D"/>
                </a:solidFill>
              </a:defRPr>
            </a:pPr>
            <a:r>
              <a:t>• Nguồn gốc chuẩn: </a:t>
            </a:r>
          </a:p>
          <a:p>
            <a:pPr>
              <a:spcAft>
                <a:spcPts val="800"/>
              </a:spcAft>
              <a:defRPr sz="1100">
                <a:solidFill>
                  <a:srgbClr val="212529"/>
                </a:solidFill>
              </a:defRPr>
            </a:pPr>
            <a:r>
              <a:t>  Elastic Malware Benchmark for Empowering Researchers (EMBER 2018 v2) do Endgame/Elastic phát hành.</a:t>
            </a:r>
          </a:p>
          <a:p>
            <a:pPr>
              <a:defRPr b="1" sz="1200">
                <a:solidFill>
                  <a:srgbClr val="1B365D"/>
                </a:solidFill>
              </a:defRPr>
            </a:pPr>
            <a:r>
              <a:t>• Quy mô nguyên bản: </a:t>
            </a:r>
          </a:p>
          <a:p>
            <a:pPr>
              <a:spcAft>
                <a:spcPts val="800"/>
              </a:spcAft>
              <a:defRPr sz="1100">
                <a:solidFill>
                  <a:srgbClr val="212529"/>
                </a:solidFill>
              </a:defRPr>
            </a:pPr>
            <a:r>
              <a:t>  1.000.000 mẫu PE file được quét trong năm 2018 (800k train, 200k test).</a:t>
            </a:r>
          </a:p>
          <a:p>
            <a:pPr>
              <a:defRPr b="1" sz="1200">
                <a:solidFill>
                  <a:srgbClr val="1B365D"/>
                </a:solidFill>
              </a:defRPr>
            </a:pPr>
            <a:r>
              <a:t>• Nhãn thời gian xuất hiện (Appeared): </a:t>
            </a:r>
          </a:p>
          <a:p>
            <a:pPr>
              <a:spcAft>
                <a:spcPts val="800"/>
              </a:spcAft>
              <a:defRPr sz="1100">
                <a:solidFill>
                  <a:srgbClr val="212529"/>
                </a:solidFill>
              </a:defRPr>
            </a:pPr>
            <a:r>
              <a:t>  Gắn mốc tháng thực tế (2018-01 đến 2018-12) khi mẫu được phát hiện trên VirusTotal. Hoàn toàn không bị ảnh hưởng bởi timestomping.</a:t>
            </a:r>
          </a:p>
          <a:p>
            <a:pPr>
              <a:defRPr b="1" sz="1200">
                <a:solidFill>
                  <a:srgbClr val="1B365D"/>
                </a:solidFill>
              </a:defRPr>
            </a:pPr>
            <a:r>
              <a:t>• Cấu trúc đặc trưng: </a:t>
            </a:r>
          </a:p>
          <a:p>
            <a:pPr>
              <a:spcAft>
                <a:spcPts val="800"/>
              </a:spcAft>
              <a:defRPr sz="1100">
                <a:solidFill>
                  <a:srgbClr val="212529"/>
                </a:solidFill>
              </a:defRPr>
            </a:pPr>
            <a:r>
              <a:t>  Trích xuất tĩnh bằng thư viện LIEF, chứa cấu trúc JSON phân cấp: general, header.coff, header.optional, section, datadirectories...</a:t>
            </a:r>
          </a:p>
        </p:txBody>
      </p:sp>
      <p:sp>
        <p:nvSpPr>
          <p:cNvPr id="7" name="Rounded Rectangle 6"/>
          <p:cNvSpPr/>
          <p:nvPr/>
        </p:nvSpPr>
        <p:spPr>
          <a:xfrm>
            <a:off x="6217920" y="1280160"/>
            <a:ext cx="5212080" cy="4937760"/>
          </a:xfrm>
          <a:prstGeom prst="roundRect">
            <a:avLst>
              <a:gd name="adj" fmla="val 3500"/>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73952" y="1463040"/>
            <a:ext cx="4700016" cy="347472"/>
          </a:xfrm>
          <a:prstGeom prst="rect">
            <a:avLst/>
          </a:prstGeom>
          <a:noFill/>
        </p:spPr>
        <p:txBody>
          <a:bodyPr wrap="square" lIns="0" tIns="0" rIns="0" bIns="0">
            <a:spAutoFit/>
          </a:bodyPr>
          <a:lstStyle/>
          <a:p>
            <a:pPr>
              <a:defRPr sz="1300" b="1">
                <a:solidFill>
                  <a:srgbClr val="1B365D"/>
                </a:solidFill>
              </a:defRPr>
            </a:pPr>
            <a:r>
              <a:t>Chiến Lược Lấy Mẫu Phân Tầng (Stratified Sampling)</a:t>
            </a:r>
          </a:p>
        </p:txBody>
      </p:sp>
      <p:sp>
        <p:nvSpPr>
          <p:cNvPr id="9" name="TextBox 8"/>
          <p:cNvSpPr txBox="1"/>
          <p:nvPr/>
        </p:nvSpPr>
        <p:spPr>
          <a:xfrm>
            <a:off x="6473952" y="1874519"/>
            <a:ext cx="4700016" cy="4114800"/>
          </a:xfrm>
          <a:prstGeom prst="rect">
            <a:avLst/>
          </a:prstGeom>
          <a:noFill/>
        </p:spPr>
        <p:txBody>
          <a:bodyPr wrap="square" lIns="0" tIns="0" rIns="0" bIns="0">
            <a:spAutoFit/>
          </a:bodyPr>
          <a:lstStyle/>
          <a:p/>
          <a:p>
            <a:pPr>
              <a:defRPr b="1" sz="1200">
                <a:solidFill>
                  <a:srgbClr val="008080"/>
                </a:solidFill>
              </a:defRPr>
            </a:pPr>
            <a:r>
              <a:t>• Lọc mẫu không xác định: </a:t>
            </a:r>
          </a:p>
          <a:p>
            <a:pPr>
              <a:spcAft>
                <a:spcPts val="800"/>
              </a:spcAft>
              <a:defRPr sz="1100">
                <a:solidFill>
                  <a:srgbClr val="212529"/>
                </a:solidFill>
              </a:defRPr>
            </a:pPr>
            <a:r>
              <a:t>  Loại bỏ hoàn toàn các mẫu unlabeled (nhãn -1 trong EMBER gốc) để giữ lại bài toán học có giám sát nhị phân (0: Benign, 1: Malware).</a:t>
            </a:r>
          </a:p>
          <a:p>
            <a:pPr>
              <a:defRPr b="1" sz="1200">
                <a:solidFill>
                  <a:srgbClr val="008080"/>
                </a:solidFill>
              </a:defRPr>
            </a:pPr>
            <a:r>
              <a:t>• Cỡ mẫu phân tầng: </a:t>
            </a:r>
          </a:p>
          <a:p>
            <a:pPr>
              <a:spcAft>
                <a:spcPts val="800"/>
              </a:spcAft>
              <a:defRPr sz="1100">
                <a:solidFill>
                  <a:srgbClr val="212529"/>
                </a:solidFill>
              </a:defRPr>
            </a:pPr>
            <a:r>
              <a:t>  Lấy 4.000 mẫu/tháng cân bằng (2.000 benign và 2.000 malware mỗi tháng) phủ trọn vẹn 12 tháng từ 2018-01 đến 2018-12.</a:t>
            </a:r>
          </a:p>
          <a:p>
            <a:pPr>
              <a:defRPr b="1" sz="1200">
                <a:solidFill>
                  <a:srgbClr val="008080"/>
                </a:solidFill>
              </a:defRPr>
            </a:pPr>
            <a:r>
              <a:t>• Tổng số mẫu thực nghiệm: </a:t>
            </a:r>
          </a:p>
          <a:p>
            <a:pPr>
              <a:spcAft>
                <a:spcPts val="800"/>
              </a:spcAft>
              <a:defRPr sz="1100">
                <a:solidFill>
                  <a:srgbClr val="212529"/>
                </a:solidFill>
              </a:defRPr>
            </a:pPr>
            <a:r>
              <a:t>  48.000 mẫu đại diện chuẩn mực.</a:t>
            </a:r>
          </a:p>
          <a:p>
            <a:pPr>
              <a:defRPr b="1" sz="1200">
                <a:solidFill>
                  <a:srgbClr val="008080"/>
                </a:solidFill>
              </a:defRPr>
            </a:pPr>
            <a:r>
              <a:t>• Ưu thế tối ưu tài nguyên: </a:t>
            </a:r>
          </a:p>
          <a:p>
            <a:pPr>
              <a:spcAft>
                <a:spcPts val="800"/>
              </a:spcAft>
              <a:defRPr sz="1100">
                <a:solidFill>
                  <a:srgbClr val="212529"/>
                </a:solidFill>
              </a:defRPr>
            </a:pPr>
            <a:r>
              <a:t>  Đảm bảo phản ánh chính xác hiện tượng trôi dạt dữ liệu theo từng tháng, đồng thời giảm mức tiêu thụ RAM &lt; 2GB và thời gian huấn luyện toàn pipeline chỉ mất 2-4 phút.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058400" cy="274320"/>
          </a:xfrm>
          <a:prstGeom prst="rect">
            <a:avLst/>
          </a:prstGeom>
          <a:noFill/>
        </p:spPr>
        <p:txBody>
          <a:bodyPr wrap="square">
            <a:spAutoFit/>
          </a:bodyPr>
          <a:lstStyle/>
          <a:p>
            <a:pPr>
              <a:defRPr sz="1000" b="1">
                <a:solidFill>
                  <a:srgbClr val="008080"/>
                </a:solidFill>
              </a:defRPr>
            </a:pPr>
            <a:r>
              <a:t>BÁO CÁO GIỮA KÌ - AN TOÀN VÀ BẢO MẬT HỆ THỐNG THÔNG TIN</a:t>
            </a:r>
          </a:p>
        </p:txBody>
      </p:sp>
      <p:sp>
        <p:nvSpPr>
          <p:cNvPr id="3" name="TextBox 2"/>
          <p:cNvSpPr txBox="1"/>
          <p:nvPr/>
        </p:nvSpPr>
        <p:spPr>
          <a:xfrm>
            <a:off x="731520" y="594360"/>
            <a:ext cx="10515600" cy="548640"/>
          </a:xfrm>
          <a:prstGeom prst="rect">
            <a:avLst/>
          </a:prstGeom>
          <a:noFill/>
        </p:spPr>
        <p:txBody>
          <a:bodyPr wrap="square">
            <a:spAutoFit/>
          </a:bodyPr>
          <a:lstStyle/>
          <a:p>
            <a:pPr>
              <a:defRPr sz="2200" b="1">
                <a:solidFill>
                  <a:srgbClr val="1B365D"/>
                </a:solidFill>
              </a:defRPr>
            </a:pPr>
            <a:r>
              <a:t>4. Sơ Đồ Quy Trình Thực Hiện Thực Nghiệm Toàn Diện</a:t>
            </a:r>
          </a:p>
        </p:txBody>
      </p:sp>
      <p:sp>
        <p:nvSpPr>
          <p:cNvPr id="4" name="Rounded Rectangle 3"/>
          <p:cNvSpPr/>
          <p:nvPr/>
        </p:nvSpPr>
        <p:spPr>
          <a:xfrm>
            <a:off x="731520" y="1371600"/>
            <a:ext cx="10698480" cy="868680"/>
          </a:xfrm>
          <a:prstGeom prst="roundRect">
            <a:avLst/>
          </a:prstGeom>
          <a:solidFill>
            <a:srgbClr val="FFFFFF"/>
          </a:solidFill>
          <a:ln w="19050">
            <a:solidFill>
              <a:srgbClr val="1B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371600"/>
            <a:ext cx="2377440" cy="86868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BƯỚC 1: DỮ LIỆU THÔ</a:t>
            </a:r>
          </a:p>
        </p:txBody>
      </p:sp>
      <p:sp>
        <p:nvSpPr>
          <p:cNvPr id="6" name="TextBox 5"/>
          <p:cNvSpPr txBox="1"/>
          <p:nvPr/>
        </p:nvSpPr>
        <p:spPr>
          <a:xfrm>
            <a:off x="3291840" y="1417320"/>
            <a:ext cx="8046720" cy="777240"/>
          </a:xfrm>
          <a:prstGeom prst="rect">
            <a:avLst/>
          </a:prstGeom>
          <a:noFill/>
        </p:spPr>
        <p:txBody>
          <a:bodyPr wrap="none">
            <a:spAutoFit/>
          </a:bodyPr>
          <a:lstStyle/>
          <a:p>
            <a:pPr>
              <a:defRPr sz="1100">
                <a:solidFill>
                  <a:srgbClr val="212529"/>
                </a:solidFill>
              </a:defRPr>
            </a:pPr>
            <a:r>
              <a:t>EMBER 2018 Raw JSONL</a:t>
            </a:r>
            <a:br/>
            <a:r>
              <a:t>• Lọc nhãn -1</a:t>
            </a:r>
            <a:br/>
            <a:r>
              <a:t>• Phân tầng theo tháng (4k/tháng)</a:t>
            </a:r>
            <a:br/>
            <a:r>
              <a:t>• 48.000 mẫu (01-12/2018)</a:t>
            </a:r>
          </a:p>
        </p:txBody>
      </p:sp>
      <p:sp>
        <p:nvSpPr>
          <p:cNvPr id="7" name="Rounded Rectangle 6"/>
          <p:cNvSpPr/>
          <p:nvPr/>
        </p:nvSpPr>
        <p:spPr>
          <a:xfrm>
            <a:off x="731520" y="2377440"/>
            <a:ext cx="10698480" cy="868680"/>
          </a:xfrm>
          <a:prstGeom prst="roundRect">
            <a:avLst/>
          </a:prstGeom>
          <a:solidFill>
            <a:srgbClr val="FFFFFF"/>
          </a:solidFill>
          <a:ln w="19050">
            <a:solidFill>
              <a:srgbClr val="008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2377440"/>
            <a:ext cx="2377440" cy="868680"/>
          </a:xfrm>
          <a:prstGeom prst="rect">
            <a:avLst/>
          </a:prstGeom>
          <a:solidFill>
            <a:srgbClr val="00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BƯỚC 2: TIỀN XỬ LÝ</a:t>
            </a:r>
          </a:p>
        </p:txBody>
      </p:sp>
      <p:sp>
        <p:nvSpPr>
          <p:cNvPr id="9" name="TextBox 8"/>
          <p:cNvSpPr txBox="1"/>
          <p:nvPr/>
        </p:nvSpPr>
        <p:spPr>
          <a:xfrm>
            <a:off x="3291840" y="2423160"/>
            <a:ext cx="8046720" cy="777240"/>
          </a:xfrm>
          <a:prstGeom prst="rect">
            <a:avLst/>
          </a:prstGeom>
          <a:noFill/>
        </p:spPr>
        <p:txBody>
          <a:bodyPr wrap="none">
            <a:spAutoFit/>
          </a:bodyPr>
          <a:lstStyle/>
          <a:p>
            <a:pPr>
              <a:defRPr sz="1100">
                <a:solidFill>
                  <a:srgbClr val="212529"/>
                </a:solidFill>
              </a:defRPr>
            </a:pPr>
            <a:r>
              <a:t>Trích xuất PE Header</a:t>
            </a:r>
            <a:br/>
            <a:r>
              <a:t>• 44 đặc trưng Header &amp; Section</a:t>
            </a:r>
            <a:br/>
            <a:r>
              <a:t>• Xử lý missing values (median)</a:t>
            </a:r>
            <a:br/>
            <a:r>
              <a:t>• No Look-ahead Bias</a:t>
            </a:r>
          </a:p>
        </p:txBody>
      </p:sp>
      <p:sp>
        <p:nvSpPr>
          <p:cNvPr id="10" name="Rounded Rectangle 9"/>
          <p:cNvSpPr/>
          <p:nvPr/>
        </p:nvSpPr>
        <p:spPr>
          <a:xfrm>
            <a:off x="731520" y="3383280"/>
            <a:ext cx="10698480" cy="868680"/>
          </a:xfrm>
          <a:prstGeom prst="roundRect">
            <a:avLst/>
          </a:prstGeom>
          <a:solidFill>
            <a:srgbClr val="FFFFFF"/>
          </a:solidFill>
          <a:ln w="19050">
            <a:solidFill>
              <a:srgbClr val="1B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3383280"/>
            <a:ext cx="2377440" cy="86868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BƯỚC 3: MÔ HÌNH HÓA</a:t>
            </a:r>
          </a:p>
        </p:txBody>
      </p:sp>
      <p:sp>
        <p:nvSpPr>
          <p:cNvPr id="12" name="TextBox 11"/>
          <p:cNvSpPr txBox="1"/>
          <p:nvPr/>
        </p:nvSpPr>
        <p:spPr>
          <a:xfrm>
            <a:off x="3291840" y="3429000"/>
            <a:ext cx="8046720" cy="777240"/>
          </a:xfrm>
          <a:prstGeom prst="rect">
            <a:avLst/>
          </a:prstGeom>
          <a:noFill/>
        </p:spPr>
        <p:txBody>
          <a:bodyPr wrap="none">
            <a:spAutoFit/>
          </a:bodyPr>
          <a:lstStyle/>
          <a:p>
            <a:pPr>
              <a:defRPr sz="1100">
                <a:solidFill>
                  <a:srgbClr val="212529"/>
                </a:solidFill>
              </a:defRPr>
            </a:pPr>
            <a:r>
              <a:t>Tái hiện bài báo</a:t>
            </a:r>
            <a:br/>
            <a:r>
              <a:t>• Random Forest (100 cây)</a:t>
            </a:r>
            <a:br/>
            <a:r>
              <a:t>• Extra Trees, AdaBoost, GBDT</a:t>
            </a:r>
            <a:br/>
            <a:r>
              <a:t>• Decision Tree &amp; LightGBM</a:t>
            </a:r>
          </a:p>
        </p:txBody>
      </p:sp>
      <p:sp>
        <p:nvSpPr>
          <p:cNvPr id="13" name="Rounded Rectangle 12"/>
          <p:cNvSpPr/>
          <p:nvPr/>
        </p:nvSpPr>
        <p:spPr>
          <a:xfrm>
            <a:off x="731520" y="4389120"/>
            <a:ext cx="10698480" cy="868680"/>
          </a:xfrm>
          <a:prstGeom prst="roundRect">
            <a:avLst/>
          </a:prstGeom>
          <a:solidFill>
            <a:srgbClr val="FFFFFF"/>
          </a:solidFill>
          <a:ln w="19050">
            <a:solidFill>
              <a:srgbClr val="008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1520" y="4389120"/>
            <a:ext cx="2377440" cy="868680"/>
          </a:xfrm>
          <a:prstGeom prst="rect">
            <a:avLst/>
          </a:prstGeom>
          <a:solidFill>
            <a:srgbClr val="00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BƯỚC 4: ĐÁNH GIÁ METRICS</a:t>
            </a:r>
          </a:p>
        </p:txBody>
      </p:sp>
      <p:sp>
        <p:nvSpPr>
          <p:cNvPr id="15" name="TextBox 14"/>
          <p:cNvSpPr txBox="1"/>
          <p:nvPr/>
        </p:nvSpPr>
        <p:spPr>
          <a:xfrm>
            <a:off x="3291840" y="4434840"/>
            <a:ext cx="8046720" cy="777240"/>
          </a:xfrm>
          <a:prstGeom prst="rect">
            <a:avLst/>
          </a:prstGeom>
          <a:noFill/>
        </p:spPr>
        <p:txBody>
          <a:bodyPr wrap="none">
            <a:spAutoFit/>
          </a:bodyPr>
          <a:lstStyle/>
          <a:p>
            <a:pPr>
              <a:defRPr sz="1100">
                <a:solidFill>
                  <a:srgbClr val="212529"/>
                </a:solidFill>
              </a:defRPr>
            </a:pPr>
            <a:r>
              <a:t>Đo lường an toàn thông tin</a:t>
            </a:r>
            <a:br/>
            <a:r>
              <a:t>• Accuracy, F1, Recall</a:t>
            </a:r>
            <a:br/>
            <a:r>
              <a:t>• ROC-AUC, PR-AUC</a:t>
            </a:r>
            <a:br/>
            <a:r>
              <a:t>• FPR (False Alarm Rate)</a:t>
            </a:r>
          </a:p>
        </p:txBody>
      </p:sp>
      <p:sp>
        <p:nvSpPr>
          <p:cNvPr id="16" name="Rounded Rectangle 15"/>
          <p:cNvSpPr/>
          <p:nvPr/>
        </p:nvSpPr>
        <p:spPr>
          <a:xfrm>
            <a:off x="731520" y="5394960"/>
            <a:ext cx="10698480" cy="868680"/>
          </a:xfrm>
          <a:prstGeom prst="roundRect">
            <a:avLst/>
          </a:prstGeom>
          <a:solidFill>
            <a:srgbClr val="FFFFFF"/>
          </a:solidFill>
          <a:ln w="19050">
            <a:solidFill>
              <a:srgbClr val="D953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31520" y="5394960"/>
            <a:ext cx="2377440" cy="868680"/>
          </a:xfrm>
          <a:prstGeom prst="rect">
            <a:avLst/>
          </a:prstGeom>
          <a:solidFill>
            <a:srgbClr val="D953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BƯỚC 5: TEMPORAL DRIFT</a:t>
            </a:r>
          </a:p>
        </p:txBody>
      </p:sp>
      <p:sp>
        <p:nvSpPr>
          <p:cNvPr id="18" name="TextBox 17"/>
          <p:cNvSpPr txBox="1"/>
          <p:nvPr/>
        </p:nvSpPr>
        <p:spPr>
          <a:xfrm>
            <a:off x="3291840" y="5440680"/>
            <a:ext cx="8046720" cy="777240"/>
          </a:xfrm>
          <a:prstGeom prst="rect">
            <a:avLst/>
          </a:prstGeom>
          <a:noFill/>
        </p:spPr>
        <p:txBody>
          <a:bodyPr wrap="none">
            <a:spAutoFit/>
          </a:bodyPr>
          <a:lstStyle/>
          <a:p>
            <a:pPr>
              <a:defRPr sz="1100">
                <a:solidFill>
                  <a:srgbClr val="212529"/>
                </a:solidFill>
              </a:defRPr>
            </a:pPr>
            <a:r>
              <a:t>Kiểm tra theo thời gian</a:t>
            </a:r>
            <a:br/>
            <a:r>
              <a:t>• Temporal Split (Train 1-8, Test 9-12)</a:t>
            </a:r>
            <a:br/>
            <a:r>
              <a:t>• Đo lường PSI &amp; KS-test</a:t>
            </a:r>
            <a:br/>
            <a:r>
              <a:t>• Retrain định kỳ (Sliding Window)</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058400" cy="274320"/>
          </a:xfrm>
          <a:prstGeom prst="rect">
            <a:avLst/>
          </a:prstGeom>
          <a:noFill/>
        </p:spPr>
        <p:txBody>
          <a:bodyPr wrap="square">
            <a:spAutoFit/>
          </a:bodyPr>
          <a:lstStyle/>
          <a:p>
            <a:pPr>
              <a:defRPr sz="1000" b="1">
                <a:solidFill>
                  <a:srgbClr val="008080"/>
                </a:solidFill>
              </a:defRPr>
            </a:pPr>
            <a:r>
              <a:t>BÁO CÁO GIỮA KÌ - AN TOÀN VÀ BẢO MẬT HỆ THỐNG THÔNG TIN</a:t>
            </a:r>
          </a:p>
        </p:txBody>
      </p:sp>
      <p:sp>
        <p:nvSpPr>
          <p:cNvPr id="3" name="TextBox 2"/>
          <p:cNvSpPr txBox="1"/>
          <p:nvPr/>
        </p:nvSpPr>
        <p:spPr>
          <a:xfrm>
            <a:off x="731520" y="594360"/>
            <a:ext cx="10515600" cy="548640"/>
          </a:xfrm>
          <a:prstGeom prst="rect">
            <a:avLst/>
          </a:prstGeom>
          <a:noFill/>
        </p:spPr>
        <p:txBody>
          <a:bodyPr wrap="square">
            <a:spAutoFit/>
          </a:bodyPr>
          <a:lstStyle/>
          <a:p>
            <a:pPr>
              <a:defRPr sz="2200" b="1">
                <a:solidFill>
                  <a:srgbClr val="1B365D"/>
                </a:solidFill>
              </a:defRPr>
            </a:pPr>
            <a:r>
              <a:t>5. Thiết Lập Thực Nghiệm: Phân Chia, Mô Hình &amp; Thước Đo</a:t>
            </a:r>
          </a:p>
        </p:txBody>
      </p:sp>
      <p:sp>
        <p:nvSpPr>
          <p:cNvPr id="4" name="Rounded Rectangle 3"/>
          <p:cNvSpPr/>
          <p:nvPr/>
        </p:nvSpPr>
        <p:spPr>
          <a:xfrm>
            <a:off x="731520" y="1280160"/>
            <a:ext cx="3291840" cy="4937760"/>
          </a:xfrm>
          <a:prstGeom prst="roundRect">
            <a:avLst>
              <a:gd name="adj" fmla="val 3500"/>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7552" y="1463040"/>
            <a:ext cx="2779776" cy="347472"/>
          </a:xfrm>
          <a:prstGeom prst="rect">
            <a:avLst/>
          </a:prstGeom>
          <a:noFill/>
        </p:spPr>
        <p:txBody>
          <a:bodyPr wrap="square" lIns="0" tIns="0" rIns="0" bIns="0">
            <a:spAutoFit/>
          </a:bodyPr>
          <a:lstStyle/>
          <a:p>
            <a:pPr>
              <a:defRPr sz="1300" b="1">
                <a:solidFill>
                  <a:srgbClr val="1B365D"/>
                </a:solidFill>
              </a:defRPr>
            </a:pPr>
            <a:r>
              <a:t>1. Phân Chia Dữ Liệu</a:t>
            </a:r>
          </a:p>
        </p:txBody>
      </p:sp>
      <p:sp>
        <p:nvSpPr>
          <p:cNvPr id="6" name="TextBox 5"/>
          <p:cNvSpPr txBox="1"/>
          <p:nvPr/>
        </p:nvSpPr>
        <p:spPr>
          <a:xfrm>
            <a:off x="987552" y="1874519"/>
            <a:ext cx="2779776" cy="4114800"/>
          </a:xfrm>
          <a:prstGeom prst="rect">
            <a:avLst/>
          </a:prstGeom>
          <a:noFill/>
        </p:spPr>
        <p:txBody>
          <a:bodyPr wrap="square" lIns="0" tIns="0" rIns="0" bIns="0">
            <a:spAutoFit/>
          </a:bodyPr>
          <a:lstStyle/>
          <a:p/>
          <a:p>
            <a:pPr>
              <a:defRPr b="1" sz="1150">
                <a:solidFill>
                  <a:srgbClr val="1B365D"/>
                </a:solidFill>
              </a:defRPr>
            </a:pPr>
            <a:r>
              <a:t>• Random Split (Phần A): </a:t>
            </a:r>
          </a:p>
          <a:p>
            <a:pPr>
              <a:spcAft>
                <a:spcPts val="800"/>
              </a:spcAft>
              <a:defRPr sz="1050">
                <a:solidFill>
                  <a:srgbClr val="212529"/>
                </a:solidFill>
              </a:defRPr>
            </a:pPr>
            <a:r>
              <a:t>80% Train (38.400 mẫu) / 20% Test (9.600 mẫu), phân tầng nhãn, tái hiện thí nghiệm bài báo.</a:t>
            </a:r>
          </a:p>
          <a:p>
            <a:pPr>
              <a:defRPr b="1" sz="1150">
                <a:solidFill>
                  <a:srgbClr val="1B365D"/>
                </a:solidFill>
              </a:defRPr>
            </a:pPr>
            <a:r>
              <a:t>• 10-Fold CV (Phần A): </a:t>
            </a:r>
          </a:p>
          <a:p>
            <a:pPr>
              <a:spcAft>
                <a:spcPts val="800"/>
              </a:spcAft>
              <a:defRPr sz="1050">
                <a:solidFill>
                  <a:srgbClr val="212529"/>
                </a:solidFill>
              </a:defRPr>
            </a:pPr>
            <a:r>
              <a:t>K-Fold (K=10) trên tập train nhằm kiểm tra overfit.</a:t>
            </a:r>
          </a:p>
          <a:p>
            <a:pPr>
              <a:defRPr b="1" sz="1150">
                <a:solidFill>
                  <a:srgbClr val="1B365D"/>
                </a:solidFill>
              </a:defRPr>
            </a:pPr>
            <a:r>
              <a:t>• Temporal Split (Phần B): </a:t>
            </a:r>
          </a:p>
          <a:p>
            <a:pPr>
              <a:spcAft>
                <a:spcPts val="800"/>
              </a:spcAft>
              <a:defRPr sz="1050">
                <a:solidFill>
                  <a:srgbClr val="212529"/>
                </a:solidFill>
              </a:defRPr>
            </a:pPr>
            <a:r>
              <a:t>Train trên 8 tháng đầu (2018-01 đến 2018-08).</a:t>
            </a:r>
            <a:br/>
            <a:r>
              <a:t>Test độc lập trên từng tháng tương lai (09, 10, 11, 12).</a:t>
            </a:r>
          </a:p>
        </p:txBody>
      </p:sp>
      <p:sp>
        <p:nvSpPr>
          <p:cNvPr id="7" name="Rounded Rectangle 6"/>
          <p:cNvSpPr/>
          <p:nvPr/>
        </p:nvSpPr>
        <p:spPr>
          <a:xfrm>
            <a:off x="4389120" y="1280160"/>
            <a:ext cx="3291840" cy="4937760"/>
          </a:xfrm>
          <a:prstGeom prst="roundRect">
            <a:avLst>
              <a:gd name="adj" fmla="val 3500"/>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45152" y="1463040"/>
            <a:ext cx="2779776" cy="347472"/>
          </a:xfrm>
          <a:prstGeom prst="rect">
            <a:avLst/>
          </a:prstGeom>
          <a:noFill/>
        </p:spPr>
        <p:txBody>
          <a:bodyPr wrap="square" lIns="0" tIns="0" rIns="0" bIns="0">
            <a:spAutoFit/>
          </a:bodyPr>
          <a:lstStyle/>
          <a:p>
            <a:pPr>
              <a:defRPr sz="1300" b="1">
                <a:solidFill>
                  <a:srgbClr val="1B365D"/>
                </a:solidFill>
              </a:defRPr>
            </a:pPr>
            <a:r>
              <a:t>2. Cấu Hình Mô Hình</a:t>
            </a:r>
          </a:p>
        </p:txBody>
      </p:sp>
      <p:sp>
        <p:nvSpPr>
          <p:cNvPr id="9" name="TextBox 8"/>
          <p:cNvSpPr txBox="1"/>
          <p:nvPr/>
        </p:nvSpPr>
        <p:spPr>
          <a:xfrm>
            <a:off x="4645152" y="1874519"/>
            <a:ext cx="2779776" cy="4114800"/>
          </a:xfrm>
          <a:prstGeom prst="rect">
            <a:avLst/>
          </a:prstGeom>
          <a:noFill/>
        </p:spPr>
        <p:txBody>
          <a:bodyPr wrap="square" lIns="0" tIns="0" rIns="0" bIns="0">
            <a:spAutoFit/>
          </a:bodyPr>
          <a:lstStyle/>
          <a:p/>
          <a:p>
            <a:pPr>
              <a:defRPr b="1" sz="1150">
                <a:solidFill>
                  <a:srgbClr val="008080"/>
                </a:solidFill>
              </a:defRPr>
            </a:pPr>
            <a:r>
              <a:t>• Random Forest (Chính): </a:t>
            </a:r>
          </a:p>
          <a:p>
            <a:pPr>
              <a:spcAft>
                <a:spcPts val="800"/>
              </a:spcAft>
              <a:defRPr sz="1050">
                <a:solidFill>
                  <a:srgbClr val="212529"/>
                </a:solidFill>
              </a:defRPr>
            </a:pPr>
            <a:r>
              <a:t>100 cây (n_estimators=100), max_depth=None, n_jobs=-1, random_state=42.</a:t>
            </a:r>
          </a:p>
          <a:p>
            <a:pPr>
              <a:defRPr b="1" sz="1150">
                <a:solidFill>
                  <a:srgbClr val="008080"/>
                </a:solidFill>
              </a:defRPr>
            </a:pPr>
            <a:r>
              <a:t>• Extra Trees: </a:t>
            </a:r>
          </a:p>
          <a:p>
            <a:pPr>
              <a:spcAft>
                <a:spcPts val="800"/>
              </a:spcAft>
              <a:defRPr sz="1050">
                <a:solidFill>
                  <a:srgbClr val="212529"/>
                </a:solidFill>
              </a:defRPr>
            </a:pPr>
            <a:r>
              <a:t>100 cây, phân tách nhánh cực kỳ ngẫu nhiên.</a:t>
            </a:r>
          </a:p>
          <a:p>
            <a:pPr>
              <a:defRPr b="1" sz="1150">
                <a:solidFill>
                  <a:srgbClr val="008080"/>
                </a:solidFill>
              </a:defRPr>
            </a:pPr>
            <a:r>
              <a:t>• Decision Tree: </a:t>
            </a:r>
          </a:p>
          <a:p>
            <a:pPr>
              <a:spcAft>
                <a:spcPts val="800"/>
              </a:spcAft>
              <a:defRPr sz="1050">
                <a:solidFill>
                  <a:srgbClr val="212529"/>
                </a:solidFill>
              </a:defRPr>
            </a:pPr>
            <a:r>
              <a:t>max_depth=15, tốc độ cao.</a:t>
            </a:r>
          </a:p>
          <a:p>
            <a:pPr>
              <a:defRPr b="1" sz="1150">
                <a:solidFill>
                  <a:srgbClr val="008080"/>
                </a:solidFill>
              </a:defRPr>
            </a:pPr>
            <a:r>
              <a:t>• Boosting Ensemble: </a:t>
            </a:r>
          </a:p>
          <a:p>
            <a:pPr>
              <a:spcAft>
                <a:spcPts val="800"/>
              </a:spcAft>
              <a:defRPr sz="1050">
                <a:solidFill>
                  <a:srgbClr val="212529"/>
                </a:solidFill>
              </a:defRPr>
            </a:pPr>
            <a:r>
              <a:t>AdaBoost (50 cây), Gradient Boosting, LightGBM (100 cây, lr=0.05).</a:t>
            </a:r>
          </a:p>
          <a:p>
            <a:pPr>
              <a:defRPr b="1" sz="1150">
                <a:solidFill>
                  <a:srgbClr val="008080"/>
                </a:solidFill>
              </a:defRPr>
            </a:pPr>
            <a:r>
              <a:t>• Baseline: </a:t>
            </a:r>
          </a:p>
          <a:p>
            <a:pPr>
              <a:spcAft>
                <a:spcPts val="800"/>
              </a:spcAft>
              <a:defRPr sz="1050">
                <a:solidFill>
                  <a:srgbClr val="212529"/>
                </a:solidFill>
              </a:defRPr>
            </a:pPr>
            <a:r>
              <a:t>Logistic Regression chuẩn hóa.</a:t>
            </a:r>
          </a:p>
        </p:txBody>
      </p:sp>
      <p:sp>
        <p:nvSpPr>
          <p:cNvPr id="10" name="Rounded Rectangle 9"/>
          <p:cNvSpPr/>
          <p:nvPr/>
        </p:nvSpPr>
        <p:spPr>
          <a:xfrm>
            <a:off x="8046720" y="1280160"/>
            <a:ext cx="3383280" cy="4937760"/>
          </a:xfrm>
          <a:prstGeom prst="roundRect">
            <a:avLst>
              <a:gd name="adj" fmla="val 3500"/>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02752" y="1463040"/>
            <a:ext cx="2871216" cy="347472"/>
          </a:xfrm>
          <a:prstGeom prst="rect">
            <a:avLst/>
          </a:prstGeom>
          <a:noFill/>
        </p:spPr>
        <p:txBody>
          <a:bodyPr wrap="square" lIns="0" tIns="0" rIns="0" bIns="0">
            <a:spAutoFit/>
          </a:bodyPr>
          <a:lstStyle/>
          <a:p>
            <a:pPr>
              <a:defRPr sz="1300" b="1">
                <a:solidFill>
                  <a:srgbClr val="1B365D"/>
                </a:solidFill>
              </a:defRPr>
            </a:pPr>
            <a:r>
              <a:t>3. Thước Đo An Toàn TT</a:t>
            </a:r>
          </a:p>
        </p:txBody>
      </p:sp>
      <p:sp>
        <p:nvSpPr>
          <p:cNvPr id="12" name="TextBox 11"/>
          <p:cNvSpPr txBox="1"/>
          <p:nvPr/>
        </p:nvSpPr>
        <p:spPr>
          <a:xfrm>
            <a:off x="8302752" y="1874519"/>
            <a:ext cx="2871216" cy="4114800"/>
          </a:xfrm>
          <a:prstGeom prst="rect">
            <a:avLst/>
          </a:prstGeom>
          <a:noFill/>
        </p:spPr>
        <p:txBody>
          <a:bodyPr wrap="square" lIns="0" tIns="0" rIns="0" bIns="0">
            <a:spAutoFit/>
          </a:bodyPr>
          <a:lstStyle/>
          <a:p/>
          <a:p>
            <a:pPr>
              <a:defRPr b="1" sz="1150">
                <a:solidFill>
                  <a:srgbClr val="D9534F"/>
                </a:solidFill>
              </a:defRPr>
            </a:pPr>
            <a:r>
              <a:t>• Accuracy &amp; F1-Score: </a:t>
            </a:r>
          </a:p>
          <a:p>
            <a:pPr>
              <a:spcAft>
                <a:spcPts val="800"/>
              </a:spcAft>
              <a:defRPr sz="1050">
                <a:solidFill>
                  <a:srgbClr val="212529"/>
                </a:solidFill>
              </a:defRPr>
            </a:pPr>
            <a:r>
              <a:t>Đo lường độ chính xác tổng quát và điểm điều hòa giữa Precision và Recall.</a:t>
            </a:r>
          </a:p>
          <a:p>
            <a:pPr>
              <a:defRPr b="1" sz="1150">
                <a:solidFill>
                  <a:srgbClr val="D9534F"/>
                </a:solidFill>
              </a:defRPr>
            </a:pPr>
            <a:r>
              <a:t>• ROC-AUC &amp; PR-AUC: </a:t>
            </a:r>
          </a:p>
          <a:p>
            <a:pPr>
              <a:spcAft>
                <a:spcPts val="800"/>
              </a:spcAft>
              <a:defRPr sz="1050">
                <a:solidFill>
                  <a:srgbClr val="212529"/>
                </a:solidFill>
              </a:defRPr>
            </a:pPr>
            <a:r>
              <a:t>Khả năng phân biệt mã độc và file sạch ở mọi ngưỡng quyết định.</a:t>
            </a:r>
          </a:p>
          <a:p>
            <a:pPr>
              <a:defRPr b="1" sz="1150">
                <a:solidFill>
                  <a:srgbClr val="D9534F"/>
                </a:solidFill>
              </a:defRPr>
            </a:pPr>
            <a:r>
              <a:t>• FPR (False Positive Rate): </a:t>
            </a:r>
          </a:p>
          <a:p>
            <a:pPr>
              <a:spcAft>
                <a:spcPts val="800"/>
              </a:spcAft>
              <a:defRPr sz="1050">
                <a:solidFill>
                  <a:srgbClr val="212529"/>
                </a:solidFill>
              </a:defRPr>
            </a:pPr>
            <a:r>
              <a:t>Tỷ lệ báo nhầm phần mềm lành tính thành mã độc (phải càng thấp càng tốt để tránh gián đoạn người dùng).</a:t>
            </a:r>
          </a:p>
          <a:p>
            <a:pPr>
              <a:defRPr b="1" sz="1150">
                <a:solidFill>
                  <a:srgbClr val="D9534F"/>
                </a:solidFill>
              </a:defRPr>
            </a:pPr>
            <a:r>
              <a:t>• TPR at 1% FPR: </a:t>
            </a:r>
          </a:p>
          <a:p>
            <a:pPr>
              <a:spcAft>
                <a:spcPts val="800"/>
              </a:spcAft>
              <a:defRPr sz="1050">
                <a:solidFill>
                  <a:srgbClr val="212529"/>
                </a:solidFill>
              </a:defRPr>
            </a:pPr>
            <a:r>
              <a:t>Độ nhạy bắt mã độc khi khống chế tỷ lệ cảnh báo sai dưới 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058400" cy="274320"/>
          </a:xfrm>
          <a:prstGeom prst="rect">
            <a:avLst/>
          </a:prstGeom>
          <a:noFill/>
        </p:spPr>
        <p:txBody>
          <a:bodyPr wrap="square">
            <a:spAutoFit/>
          </a:bodyPr>
          <a:lstStyle/>
          <a:p>
            <a:pPr>
              <a:defRPr sz="1000" b="1">
                <a:solidFill>
                  <a:srgbClr val="008080"/>
                </a:solidFill>
              </a:defRPr>
            </a:pPr>
            <a:r>
              <a:t>BÁO CÁO GIỮA KÌ - AN TOÀN VÀ BẢO MẬT HỆ THỐNG THÔNG TIN</a:t>
            </a:r>
          </a:p>
        </p:txBody>
      </p:sp>
      <p:sp>
        <p:nvSpPr>
          <p:cNvPr id="3" name="TextBox 2"/>
          <p:cNvSpPr txBox="1"/>
          <p:nvPr/>
        </p:nvSpPr>
        <p:spPr>
          <a:xfrm>
            <a:off x="731520" y="594360"/>
            <a:ext cx="10515600" cy="548640"/>
          </a:xfrm>
          <a:prstGeom prst="rect">
            <a:avLst/>
          </a:prstGeom>
          <a:noFill/>
        </p:spPr>
        <p:txBody>
          <a:bodyPr wrap="square">
            <a:spAutoFit/>
          </a:bodyPr>
          <a:lstStyle/>
          <a:p>
            <a:pPr>
              <a:defRPr sz="2200" b="1">
                <a:solidFill>
                  <a:srgbClr val="1B365D"/>
                </a:solidFill>
              </a:defRPr>
            </a:pPr>
            <a:r>
              <a:t>6. Kết Quả Thực Nghiệm Tái Hiện (Phần A)</a:t>
            </a:r>
          </a:p>
        </p:txBody>
      </p:sp>
      <p:sp>
        <p:nvSpPr>
          <p:cNvPr id="4" name="Rounded Rectangle 3"/>
          <p:cNvSpPr/>
          <p:nvPr/>
        </p:nvSpPr>
        <p:spPr>
          <a:xfrm>
            <a:off x="731520" y="1280160"/>
            <a:ext cx="5303520" cy="4937760"/>
          </a:xfrm>
          <a:prstGeom prst="roundRect">
            <a:avLst>
              <a:gd name="adj" fmla="val 3500"/>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7552" y="1463040"/>
            <a:ext cx="4791456" cy="347472"/>
          </a:xfrm>
          <a:prstGeom prst="rect">
            <a:avLst/>
          </a:prstGeom>
          <a:noFill/>
        </p:spPr>
        <p:txBody>
          <a:bodyPr wrap="square" lIns="0" tIns="0" rIns="0" bIns="0">
            <a:spAutoFit/>
          </a:bodyPr>
          <a:lstStyle/>
          <a:p>
            <a:pPr>
              <a:defRPr sz="1300" b="1">
                <a:solidFill>
                  <a:srgbClr val="1B365D"/>
                </a:solidFill>
              </a:defRPr>
            </a:pPr>
            <a:r>
              <a:t>Bảng Đối Sánh Hiệu Năng Các Mô Hình</a:t>
            </a:r>
          </a:p>
        </p:txBody>
      </p:sp>
      <p:graphicFrame>
        <p:nvGraphicFramePr>
          <p:cNvPr id="6" name="Table 5"/>
          <p:cNvGraphicFramePr>
            <a:graphicFrameLocks noGrp="1"/>
          </p:cNvGraphicFramePr>
          <p:nvPr/>
        </p:nvGraphicFramePr>
        <p:xfrm>
          <a:off x="987552" y="1874519"/>
          <a:ext cx="4791456" cy="2560320"/>
        </p:xfrm>
        <a:graphic>
          <a:graphicData uri="http://schemas.openxmlformats.org/drawingml/2006/table">
            <a:tbl>
              <a:tblPr firstRow="1" bandRow="1">
                <a:tableStyleId>{5C22544A-7EE6-4342-B048-85BDC9FD1C3A}</a:tableStyleId>
              </a:tblPr>
              <a:tblGrid>
                <a:gridCol w="1499616"/>
                <a:gridCol w="822960"/>
                <a:gridCol w="822960"/>
                <a:gridCol w="822960"/>
                <a:gridCol w="822960"/>
              </a:tblGrid>
              <a:tr h="320040">
                <a:tc>
                  <a:txBody>
                    <a:bodyPr/>
                    <a:lstStyle/>
                    <a:p>
                      <a:pPr algn="l">
                        <a:defRPr b="1" sz="950">
                          <a:solidFill>
                            <a:srgbClr val="FFFFFF"/>
                          </a:solidFill>
                        </a:defRPr>
                      </a:pPr>
                      <a:r>
                        <a:t>Mô hình</a:t>
                      </a:r>
                    </a:p>
                  </a:txBody>
                  <a:tcPr>
                    <a:solidFill>
                      <a:srgbClr val="1B365D"/>
                    </a:solidFill>
                    <a:lnL w="12700" cmpd="s">
                      <a:solidFill>
                        <a:srgbClr val="1B365D"/>
                      </a:solidFill>
                    </a:lnL>
                    <a:lnR w="12700" cmpd="s">
                      <a:solidFill>
                        <a:srgbClr val="1B365D"/>
                      </a:solidFill>
                    </a:lnR>
                    <a:lnT w="12700" cmpd="s">
                      <a:solidFill>
                        <a:srgbClr val="1B365D"/>
                      </a:solidFill>
                    </a:lnT>
                    <a:lnB w="12700" cmpd="s">
                      <a:solidFill>
                        <a:srgbClr val="1B365D"/>
                      </a:solidFill>
                    </a:lnB>
                  </a:tcPr>
                </a:tc>
                <a:tc>
                  <a:txBody>
                    <a:bodyPr/>
                    <a:lstStyle/>
                    <a:p>
                      <a:pPr algn="ctr">
                        <a:defRPr b="1" sz="950">
                          <a:solidFill>
                            <a:srgbClr val="FFFFFF"/>
                          </a:solidFill>
                        </a:defRPr>
                      </a:pPr>
                      <a:r>
                        <a:t>Acc (%)</a:t>
                      </a:r>
                    </a:p>
                  </a:txBody>
                  <a:tcPr>
                    <a:solidFill>
                      <a:srgbClr val="1B365D"/>
                    </a:solidFill>
                    <a:lnL w="12700" cmpd="s">
                      <a:solidFill>
                        <a:srgbClr val="1B365D"/>
                      </a:solidFill>
                    </a:lnL>
                    <a:lnR w="12700" cmpd="s">
                      <a:solidFill>
                        <a:srgbClr val="1B365D"/>
                      </a:solidFill>
                    </a:lnR>
                    <a:lnT w="12700" cmpd="s">
                      <a:solidFill>
                        <a:srgbClr val="1B365D"/>
                      </a:solidFill>
                    </a:lnT>
                    <a:lnB w="12700" cmpd="s">
                      <a:solidFill>
                        <a:srgbClr val="1B365D"/>
                      </a:solidFill>
                    </a:lnB>
                  </a:tcPr>
                </a:tc>
                <a:tc>
                  <a:txBody>
                    <a:bodyPr/>
                    <a:lstStyle/>
                    <a:p>
                      <a:pPr algn="ctr">
                        <a:defRPr b="1" sz="950">
                          <a:solidFill>
                            <a:srgbClr val="FFFFFF"/>
                          </a:solidFill>
                        </a:defRPr>
                      </a:pPr>
                      <a:r>
                        <a:t>ROC-AUC</a:t>
                      </a:r>
                    </a:p>
                  </a:txBody>
                  <a:tcPr>
                    <a:solidFill>
                      <a:srgbClr val="1B365D"/>
                    </a:solidFill>
                    <a:lnL w="12700" cmpd="s">
                      <a:solidFill>
                        <a:srgbClr val="1B365D"/>
                      </a:solidFill>
                    </a:lnL>
                    <a:lnR w="12700" cmpd="s">
                      <a:solidFill>
                        <a:srgbClr val="1B365D"/>
                      </a:solidFill>
                    </a:lnR>
                    <a:lnT w="12700" cmpd="s">
                      <a:solidFill>
                        <a:srgbClr val="1B365D"/>
                      </a:solidFill>
                    </a:lnT>
                    <a:lnB w="12700" cmpd="s">
                      <a:solidFill>
                        <a:srgbClr val="1B365D"/>
                      </a:solidFill>
                    </a:lnB>
                  </a:tcPr>
                </a:tc>
                <a:tc>
                  <a:txBody>
                    <a:bodyPr/>
                    <a:lstStyle/>
                    <a:p>
                      <a:pPr algn="ctr">
                        <a:defRPr b="1" sz="950">
                          <a:solidFill>
                            <a:srgbClr val="FFFFFF"/>
                          </a:solidFill>
                        </a:defRPr>
                      </a:pPr>
                      <a:r>
                        <a:t>F1</a:t>
                      </a:r>
                    </a:p>
                  </a:txBody>
                  <a:tcPr>
                    <a:solidFill>
                      <a:srgbClr val="1B365D"/>
                    </a:solidFill>
                    <a:lnL w="12700" cmpd="s">
                      <a:solidFill>
                        <a:srgbClr val="1B365D"/>
                      </a:solidFill>
                    </a:lnL>
                    <a:lnR w="12700" cmpd="s">
                      <a:solidFill>
                        <a:srgbClr val="1B365D"/>
                      </a:solidFill>
                    </a:lnR>
                    <a:lnT w="12700" cmpd="s">
                      <a:solidFill>
                        <a:srgbClr val="1B365D"/>
                      </a:solidFill>
                    </a:lnT>
                    <a:lnB w="12700" cmpd="s">
                      <a:solidFill>
                        <a:srgbClr val="1B365D"/>
                      </a:solidFill>
                    </a:lnB>
                  </a:tcPr>
                </a:tc>
                <a:tc>
                  <a:txBody>
                    <a:bodyPr/>
                    <a:lstStyle/>
                    <a:p>
                      <a:pPr algn="ctr">
                        <a:defRPr b="1" sz="950">
                          <a:solidFill>
                            <a:srgbClr val="FFFFFF"/>
                          </a:solidFill>
                        </a:defRPr>
                      </a:pPr>
                      <a:r>
                        <a:t>FPR (%)</a:t>
                      </a:r>
                    </a:p>
                  </a:txBody>
                  <a:tcPr>
                    <a:solidFill>
                      <a:srgbClr val="1B365D"/>
                    </a:solidFill>
                    <a:lnL w="12700" cmpd="s">
                      <a:solidFill>
                        <a:srgbClr val="1B365D"/>
                      </a:solidFill>
                    </a:lnL>
                    <a:lnR w="12700" cmpd="s">
                      <a:solidFill>
                        <a:srgbClr val="1B365D"/>
                      </a:solidFill>
                    </a:lnR>
                    <a:lnT w="12700" cmpd="s">
                      <a:solidFill>
                        <a:srgbClr val="1B365D"/>
                      </a:solidFill>
                    </a:lnT>
                    <a:lnB w="12700" cmpd="s">
                      <a:solidFill>
                        <a:srgbClr val="1B365D"/>
                      </a:solidFill>
                    </a:lnB>
                  </a:tcPr>
                </a:tc>
              </a:tr>
              <a:tr h="320040">
                <a:tc>
                  <a:txBody>
                    <a:bodyPr/>
                    <a:lstStyle/>
                    <a:p>
                      <a:pPr algn="l">
                        <a:defRPr sz="900" b="1">
                          <a:solidFill>
                            <a:srgbClr val="1B365D"/>
                          </a:solidFill>
                        </a:defRPr>
                      </a:pPr>
                      <a:r>
                        <a:t>RandomForest (Tốt nhất)</a:t>
                      </a:r>
                    </a:p>
                  </a:txBody>
                  <a:tcPr>
                    <a:solidFill>
                      <a:srgbClr val="E6F5F5"/>
                    </a:solidFill>
                    <a:lnL w="12700" cmpd="s">
                      <a:solidFill>
                        <a:srgbClr val="CBD5E1"/>
                      </a:solidFill>
                    </a:lnL>
                    <a:lnR w="12700" cmpd="s">
                      <a:solidFill>
                        <a:srgbClr val="CBD5E1"/>
                      </a:solidFill>
                    </a:lnR>
                    <a:lnT w="12700" cmpd="s">
                      <a:solidFill>
                        <a:srgbClr val="CBD5E1"/>
                      </a:solidFill>
                    </a:lnT>
                    <a:lnB w="12700" cmpd="s">
                      <a:solidFill>
                        <a:srgbClr val="CBD5E1"/>
                      </a:solidFill>
                    </a:lnB>
                  </a:tcPr>
                </a:tc>
                <a:tc>
                  <a:txBody>
                    <a:bodyPr/>
                    <a:lstStyle/>
                    <a:p>
                      <a:pPr algn="ctr">
                        <a:defRPr sz="900" b="1">
                          <a:solidFill>
                            <a:srgbClr val="1B365D"/>
                          </a:solidFill>
                        </a:defRPr>
                      </a:pPr>
                      <a:r>
                        <a:t>94.64%</a:t>
                      </a:r>
                    </a:p>
                  </a:txBody>
                  <a:tcPr>
                    <a:solidFill>
                      <a:srgbClr val="E6F5F5"/>
                    </a:solidFill>
                    <a:lnL w="12700" cmpd="s">
                      <a:solidFill>
                        <a:srgbClr val="CBD5E1"/>
                      </a:solidFill>
                    </a:lnL>
                    <a:lnR w="12700" cmpd="s">
                      <a:solidFill>
                        <a:srgbClr val="CBD5E1"/>
                      </a:solidFill>
                    </a:lnR>
                    <a:lnT w="12700" cmpd="s">
                      <a:solidFill>
                        <a:srgbClr val="CBD5E1"/>
                      </a:solidFill>
                    </a:lnT>
                    <a:lnB w="12700" cmpd="s">
                      <a:solidFill>
                        <a:srgbClr val="CBD5E1"/>
                      </a:solidFill>
                    </a:lnB>
                  </a:tcPr>
                </a:tc>
                <a:tc>
                  <a:txBody>
                    <a:bodyPr/>
                    <a:lstStyle/>
                    <a:p>
                      <a:pPr algn="ctr">
                        <a:defRPr sz="900" b="1">
                          <a:solidFill>
                            <a:srgbClr val="1B365D"/>
                          </a:solidFill>
                        </a:defRPr>
                      </a:pPr>
                      <a:r>
                        <a:t>0.9889</a:t>
                      </a:r>
                    </a:p>
                  </a:txBody>
                  <a:tcPr>
                    <a:solidFill>
                      <a:srgbClr val="E6F5F5"/>
                    </a:solidFill>
                    <a:lnL w="12700" cmpd="s">
                      <a:solidFill>
                        <a:srgbClr val="CBD5E1"/>
                      </a:solidFill>
                    </a:lnL>
                    <a:lnR w="12700" cmpd="s">
                      <a:solidFill>
                        <a:srgbClr val="CBD5E1"/>
                      </a:solidFill>
                    </a:lnR>
                    <a:lnT w="12700" cmpd="s">
                      <a:solidFill>
                        <a:srgbClr val="CBD5E1"/>
                      </a:solidFill>
                    </a:lnT>
                    <a:lnB w="12700" cmpd="s">
                      <a:solidFill>
                        <a:srgbClr val="CBD5E1"/>
                      </a:solidFill>
                    </a:lnB>
                  </a:tcPr>
                </a:tc>
                <a:tc>
                  <a:txBody>
                    <a:bodyPr/>
                    <a:lstStyle/>
                    <a:p>
                      <a:pPr algn="ctr">
                        <a:defRPr sz="900" b="1">
                          <a:solidFill>
                            <a:srgbClr val="1B365D"/>
                          </a:solidFill>
                        </a:defRPr>
                      </a:pPr>
                      <a:r>
                        <a:t>0.9458</a:t>
                      </a:r>
                    </a:p>
                  </a:txBody>
                  <a:tcPr>
                    <a:solidFill>
                      <a:srgbClr val="E6F5F5"/>
                    </a:solidFill>
                    <a:lnL w="12700" cmpd="s">
                      <a:solidFill>
                        <a:srgbClr val="CBD5E1"/>
                      </a:solidFill>
                    </a:lnL>
                    <a:lnR w="12700" cmpd="s">
                      <a:solidFill>
                        <a:srgbClr val="CBD5E1"/>
                      </a:solidFill>
                    </a:lnR>
                    <a:lnT w="12700" cmpd="s">
                      <a:solidFill>
                        <a:srgbClr val="CBD5E1"/>
                      </a:solidFill>
                    </a:lnT>
                    <a:lnB w="12700" cmpd="s">
                      <a:solidFill>
                        <a:srgbClr val="CBD5E1"/>
                      </a:solidFill>
                    </a:lnB>
                  </a:tcPr>
                </a:tc>
                <a:tc>
                  <a:txBody>
                    <a:bodyPr/>
                    <a:lstStyle/>
                    <a:p>
                      <a:pPr algn="ctr">
                        <a:defRPr sz="900" b="1">
                          <a:solidFill>
                            <a:srgbClr val="1B365D"/>
                          </a:solidFill>
                        </a:defRPr>
                      </a:pPr>
                      <a:r>
                        <a:t>4.40%</a:t>
                      </a:r>
                    </a:p>
                  </a:txBody>
                  <a:tcPr>
                    <a:solidFill>
                      <a:srgbClr val="E6F5F5"/>
                    </a:solidFill>
                    <a:lnL w="12700" cmpd="s">
                      <a:solidFill>
                        <a:srgbClr val="CBD5E1"/>
                      </a:solidFill>
                    </a:lnL>
                    <a:lnR w="12700" cmpd="s">
                      <a:solidFill>
                        <a:srgbClr val="CBD5E1"/>
                      </a:solidFill>
                    </a:lnR>
                    <a:lnT w="12700" cmpd="s">
                      <a:solidFill>
                        <a:srgbClr val="CBD5E1"/>
                      </a:solidFill>
                    </a:lnT>
                    <a:lnB w="12700" cmpd="s">
                      <a:solidFill>
                        <a:srgbClr val="CBD5E1"/>
                      </a:solidFill>
                    </a:lnB>
                  </a:tcPr>
                </a:tc>
              </a:tr>
              <a:tr h="320040">
                <a:tc>
                  <a:txBody>
                    <a:bodyPr/>
                    <a:lstStyle/>
                    <a:p>
                      <a:pPr algn="l">
                        <a:defRPr sz="900">
                          <a:solidFill>
                            <a:srgbClr val="212529"/>
                          </a:solidFill>
                        </a:defRPr>
                      </a:pPr>
                      <a:r>
                        <a:t>ExtraTrees</a:t>
                      </a:r>
                    </a:p>
                  </a:txBody>
                  <a:tcPr>
                    <a:solidFill>
                      <a:srgbClr val="F8FAFC"/>
                    </a:solidFill>
                    <a:lnL w="12700" cmpd="s">
                      <a:solidFill>
                        <a:srgbClr val="CBD5E1"/>
                      </a:solidFill>
                    </a:lnL>
                    <a:lnR w="12700" cmpd="s">
                      <a:solidFill>
                        <a:srgbClr val="CBD5E1"/>
                      </a:solidFill>
                    </a:lnR>
                    <a:lnT w="12700" cmpd="s">
                      <a:solidFill>
                        <a:srgbClr val="CBD5E1"/>
                      </a:solidFill>
                    </a:lnT>
                    <a:lnB w="12700" cmpd="s">
                      <a:solidFill>
                        <a:srgbClr val="CBD5E1"/>
                      </a:solidFill>
                    </a:lnB>
                  </a:tcPr>
                </a:tc>
                <a:tc>
                  <a:txBody>
                    <a:bodyPr/>
                    <a:lstStyle/>
                    <a:p>
                      <a:pPr algn="ctr">
                        <a:defRPr sz="900">
                          <a:solidFill>
                            <a:srgbClr val="212529"/>
                          </a:solidFill>
                        </a:defRPr>
                      </a:pPr>
                      <a:r>
                        <a:t>94.54%</a:t>
                      </a:r>
                    </a:p>
                  </a:txBody>
                  <a:tcPr>
                    <a:solidFill>
                      <a:srgbClr val="F8FAFC"/>
                    </a:solidFill>
                    <a:lnL w="12700" cmpd="s">
                      <a:solidFill>
                        <a:srgbClr val="CBD5E1"/>
                      </a:solidFill>
                    </a:lnL>
                    <a:lnR w="12700" cmpd="s">
                      <a:solidFill>
                        <a:srgbClr val="CBD5E1"/>
                      </a:solidFill>
                    </a:lnR>
                    <a:lnT w="12700" cmpd="s">
                      <a:solidFill>
                        <a:srgbClr val="CBD5E1"/>
                      </a:solidFill>
                    </a:lnT>
                    <a:lnB w="12700" cmpd="s">
                      <a:solidFill>
                        <a:srgbClr val="CBD5E1"/>
                      </a:solidFill>
                    </a:lnB>
                  </a:tcPr>
                </a:tc>
                <a:tc>
                  <a:txBody>
                    <a:bodyPr/>
                    <a:lstStyle/>
                    <a:p>
                      <a:pPr algn="ctr">
                        <a:defRPr sz="900">
                          <a:solidFill>
                            <a:srgbClr val="212529"/>
                          </a:solidFill>
                        </a:defRPr>
                      </a:pPr>
                      <a:r>
                        <a:t>0.9886</a:t>
                      </a:r>
                    </a:p>
                  </a:txBody>
                  <a:tcPr>
                    <a:solidFill>
                      <a:srgbClr val="F8FAFC"/>
                    </a:solidFill>
                    <a:lnL w="12700" cmpd="s">
                      <a:solidFill>
                        <a:srgbClr val="CBD5E1"/>
                      </a:solidFill>
                    </a:lnL>
                    <a:lnR w="12700" cmpd="s">
                      <a:solidFill>
                        <a:srgbClr val="CBD5E1"/>
                      </a:solidFill>
                    </a:lnR>
                    <a:lnT w="12700" cmpd="s">
                      <a:solidFill>
                        <a:srgbClr val="CBD5E1"/>
                      </a:solidFill>
                    </a:lnT>
                    <a:lnB w="12700" cmpd="s">
                      <a:solidFill>
                        <a:srgbClr val="CBD5E1"/>
                      </a:solidFill>
                    </a:lnB>
                  </a:tcPr>
                </a:tc>
                <a:tc>
                  <a:txBody>
                    <a:bodyPr/>
                    <a:lstStyle/>
                    <a:p>
                      <a:pPr algn="ctr">
                        <a:defRPr sz="900">
                          <a:solidFill>
                            <a:srgbClr val="212529"/>
                          </a:solidFill>
                        </a:defRPr>
                      </a:pPr>
                      <a:r>
                        <a:t>0.9451</a:t>
                      </a:r>
                    </a:p>
                  </a:txBody>
                  <a:tcPr>
                    <a:solidFill>
                      <a:srgbClr val="F8FAFC"/>
                    </a:solidFill>
                    <a:lnL w="12700" cmpd="s">
                      <a:solidFill>
                        <a:srgbClr val="CBD5E1"/>
                      </a:solidFill>
                    </a:lnL>
                    <a:lnR w="12700" cmpd="s">
                      <a:solidFill>
                        <a:srgbClr val="CBD5E1"/>
                      </a:solidFill>
                    </a:lnR>
                    <a:lnT w="12700" cmpd="s">
                      <a:solidFill>
                        <a:srgbClr val="CBD5E1"/>
                      </a:solidFill>
                    </a:lnT>
                    <a:lnB w="12700" cmpd="s">
                      <a:solidFill>
                        <a:srgbClr val="CBD5E1"/>
                      </a:solidFill>
                    </a:lnB>
                  </a:tcPr>
                </a:tc>
                <a:tc>
                  <a:txBody>
                    <a:bodyPr/>
                    <a:lstStyle/>
                    <a:p>
                      <a:pPr algn="ctr">
                        <a:defRPr sz="900">
                          <a:solidFill>
                            <a:srgbClr val="212529"/>
                          </a:solidFill>
                        </a:defRPr>
                      </a:pPr>
                      <a:r>
                        <a:t>4.94%</a:t>
                      </a:r>
                    </a:p>
                  </a:txBody>
                  <a:tcPr>
                    <a:solidFill>
                      <a:srgbClr val="F8FAFC"/>
                    </a:solidFill>
                    <a:lnL w="12700" cmpd="s">
                      <a:solidFill>
                        <a:srgbClr val="CBD5E1"/>
                      </a:solidFill>
                    </a:lnL>
                    <a:lnR w="12700" cmpd="s">
                      <a:solidFill>
                        <a:srgbClr val="CBD5E1"/>
                      </a:solidFill>
                    </a:lnR>
                    <a:lnT w="12700" cmpd="s">
                      <a:solidFill>
                        <a:srgbClr val="CBD5E1"/>
                      </a:solidFill>
                    </a:lnT>
                    <a:lnB w="12700" cmpd="s">
                      <a:solidFill>
                        <a:srgbClr val="CBD5E1"/>
                      </a:solidFill>
                    </a:lnB>
                  </a:tcPr>
                </a:tc>
              </a:tr>
              <a:tr h="320040">
                <a:tc>
                  <a:txBody>
                    <a:bodyPr/>
                    <a:lstStyle/>
                    <a:p>
                      <a:pPr algn="l">
                        <a:defRPr sz="900">
                          <a:solidFill>
                            <a:srgbClr val="212529"/>
                          </a:solidFill>
                        </a:defRPr>
                      </a:pPr>
                      <a:r>
                        <a:t>LightGBM</a:t>
                      </a:r>
                    </a:p>
                  </a:txBody>
                  <a:tcPr>
                    <a:solidFill>
                      <a:srgbClr val="FFFFFF"/>
                    </a:solidFill>
                    <a:lnL w="12700" cmpd="s">
                      <a:solidFill>
                        <a:srgbClr val="CBD5E1"/>
                      </a:solidFill>
                    </a:lnL>
                    <a:lnR w="12700" cmpd="s">
                      <a:solidFill>
                        <a:srgbClr val="CBD5E1"/>
                      </a:solidFill>
                    </a:lnR>
                    <a:lnT w="12700" cmpd="s">
                      <a:solidFill>
                        <a:srgbClr val="CBD5E1"/>
                      </a:solidFill>
                    </a:lnT>
                    <a:lnB w="12700" cmpd="s">
                      <a:solidFill>
                        <a:srgbClr val="CBD5E1"/>
                      </a:solidFill>
                    </a:lnB>
                  </a:tcPr>
                </a:tc>
                <a:tc>
                  <a:txBody>
                    <a:bodyPr/>
                    <a:lstStyle/>
                    <a:p>
                      <a:pPr algn="ctr">
                        <a:defRPr sz="900">
                          <a:solidFill>
                            <a:srgbClr val="212529"/>
                          </a:solidFill>
                        </a:defRPr>
                      </a:pPr>
                      <a:r>
                        <a:t>90.78%</a:t>
                      </a:r>
                    </a:p>
                  </a:txBody>
                  <a:tcPr>
                    <a:solidFill>
                      <a:srgbClr val="FFFFFF"/>
                    </a:solidFill>
                    <a:lnL w="12700" cmpd="s">
                      <a:solidFill>
                        <a:srgbClr val="CBD5E1"/>
                      </a:solidFill>
                    </a:lnL>
                    <a:lnR w="12700" cmpd="s">
                      <a:solidFill>
                        <a:srgbClr val="CBD5E1"/>
                      </a:solidFill>
                    </a:lnR>
                    <a:lnT w="12700" cmpd="s">
                      <a:solidFill>
                        <a:srgbClr val="CBD5E1"/>
                      </a:solidFill>
                    </a:lnT>
                    <a:lnB w="12700" cmpd="s">
                      <a:solidFill>
                        <a:srgbClr val="CBD5E1"/>
                      </a:solidFill>
                    </a:lnB>
                  </a:tcPr>
                </a:tc>
                <a:tc>
                  <a:txBody>
                    <a:bodyPr/>
                    <a:lstStyle/>
                    <a:p>
                      <a:pPr algn="ctr">
                        <a:defRPr sz="900">
                          <a:solidFill>
                            <a:srgbClr val="212529"/>
                          </a:solidFill>
                        </a:defRPr>
                      </a:pPr>
                      <a:r>
                        <a:t>0.9714</a:t>
                      </a:r>
                    </a:p>
                  </a:txBody>
                  <a:tcPr>
                    <a:solidFill>
                      <a:srgbClr val="FFFFFF"/>
                    </a:solidFill>
                    <a:lnL w="12700" cmpd="s">
                      <a:solidFill>
                        <a:srgbClr val="CBD5E1"/>
                      </a:solidFill>
                    </a:lnL>
                    <a:lnR w="12700" cmpd="s">
                      <a:solidFill>
                        <a:srgbClr val="CBD5E1"/>
                      </a:solidFill>
                    </a:lnR>
                    <a:lnT w="12700" cmpd="s">
                      <a:solidFill>
                        <a:srgbClr val="CBD5E1"/>
                      </a:solidFill>
                    </a:lnT>
                    <a:lnB w="12700" cmpd="s">
                      <a:solidFill>
                        <a:srgbClr val="CBD5E1"/>
                      </a:solidFill>
                    </a:lnB>
                  </a:tcPr>
                </a:tc>
                <a:tc>
                  <a:txBody>
                    <a:bodyPr/>
                    <a:lstStyle/>
                    <a:p>
                      <a:pPr algn="ctr">
                        <a:defRPr sz="900">
                          <a:solidFill>
                            <a:srgbClr val="212529"/>
                          </a:solidFill>
                        </a:defRPr>
                      </a:pPr>
                      <a:r>
                        <a:t>0.9081</a:t>
                      </a:r>
                    </a:p>
                  </a:txBody>
                  <a:tcPr>
                    <a:solidFill>
                      <a:srgbClr val="FFFFFF"/>
                    </a:solidFill>
                    <a:lnL w="12700" cmpd="s">
                      <a:solidFill>
                        <a:srgbClr val="CBD5E1"/>
                      </a:solidFill>
                    </a:lnL>
                    <a:lnR w="12700" cmpd="s">
                      <a:solidFill>
                        <a:srgbClr val="CBD5E1"/>
                      </a:solidFill>
                    </a:lnR>
                    <a:lnT w="12700" cmpd="s">
                      <a:solidFill>
                        <a:srgbClr val="CBD5E1"/>
                      </a:solidFill>
                    </a:lnT>
                    <a:lnB w="12700" cmpd="s">
                      <a:solidFill>
                        <a:srgbClr val="CBD5E1"/>
                      </a:solidFill>
                    </a:lnB>
                  </a:tcPr>
                </a:tc>
                <a:tc>
                  <a:txBody>
                    <a:bodyPr/>
                    <a:lstStyle/>
                    <a:p>
                      <a:pPr algn="ctr">
                        <a:defRPr sz="900">
                          <a:solidFill>
                            <a:srgbClr val="212529"/>
                          </a:solidFill>
                        </a:defRPr>
                      </a:pPr>
                      <a:r>
                        <a:t>9.58%</a:t>
                      </a:r>
                    </a:p>
                  </a:txBody>
                  <a:tcPr>
                    <a:solidFill>
                      <a:srgbClr val="FFFFFF"/>
                    </a:solidFill>
                    <a:lnL w="12700" cmpd="s">
                      <a:solidFill>
                        <a:srgbClr val="CBD5E1"/>
                      </a:solidFill>
                    </a:lnL>
                    <a:lnR w="12700" cmpd="s">
                      <a:solidFill>
                        <a:srgbClr val="CBD5E1"/>
                      </a:solidFill>
                    </a:lnR>
                    <a:lnT w="12700" cmpd="s">
                      <a:solidFill>
                        <a:srgbClr val="CBD5E1"/>
                      </a:solidFill>
                    </a:lnT>
                    <a:lnB w="12700" cmpd="s">
                      <a:solidFill>
                        <a:srgbClr val="CBD5E1"/>
                      </a:solidFill>
                    </a:lnB>
                  </a:tcPr>
                </a:tc>
              </a:tr>
              <a:tr h="320040">
                <a:tc>
                  <a:txBody>
                    <a:bodyPr/>
                    <a:lstStyle/>
                    <a:p>
                      <a:pPr algn="l">
                        <a:defRPr sz="900">
                          <a:solidFill>
                            <a:srgbClr val="212529"/>
                          </a:solidFill>
                        </a:defRPr>
                      </a:pPr>
                      <a:r>
                        <a:t>GradientBoosting</a:t>
                      </a:r>
                    </a:p>
                  </a:txBody>
                  <a:tcPr>
                    <a:solidFill>
                      <a:srgbClr val="F8FAFC"/>
                    </a:solidFill>
                    <a:lnL w="12700" cmpd="s">
                      <a:solidFill>
                        <a:srgbClr val="CBD5E1"/>
                      </a:solidFill>
                    </a:lnL>
                    <a:lnR w="12700" cmpd="s">
                      <a:solidFill>
                        <a:srgbClr val="CBD5E1"/>
                      </a:solidFill>
                    </a:lnR>
                    <a:lnT w="12700" cmpd="s">
                      <a:solidFill>
                        <a:srgbClr val="CBD5E1"/>
                      </a:solidFill>
                    </a:lnT>
                    <a:lnB w="12700" cmpd="s">
                      <a:solidFill>
                        <a:srgbClr val="CBD5E1"/>
                      </a:solidFill>
                    </a:lnB>
                  </a:tcPr>
                </a:tc>
                <a:tc>
                  <a:txBody>
                    <a:bodyPr/>
                    <a:lstStyle/>
                    <a:p>
                      <a:pPr algn="ctr">
                        <a:defRPr sz="900">
                          <a:solidFill>
                            <a:srgbClr val="212529"/>
                          </a:solidFill>
                        </a:defRPr>
                      </a:pPr>
                      <a:r>
                        <a:t>86.68%</a:t>
                      </a:r>
                    </a:p>
                  </a:txBody>
                  <a:tcPr>
                    <a:solidFill>
                      <a:srgbClr val="F8FAFC"/>
                    </a:solidFill>
                    <a:lnL w="12700" cmpd="s">
                      <a:solidFill>
                        <a:srgbClr val="CBD5E1"/>
                      </a:solidFill>
                    </a:lnL>
                    <a:lnR w="12700" cmpd="s">
                      <a:solidFill>
                        <a:srgbClr val="CBD5E1"/>
                      </a:solidFill>
                    </a:lnR>
                    <a:lnT w="12700" cmpd="s">
                      <a:solidFill>
                        <a:srgbClr val="CBD5E1"/>
                      </a:solidFill>
                    </a:lnT>
                    <a:lnB w="12700" cmpd="s">
                      <a:solidFill>
                        <a:srgbClr val="CBD5E1"/>
                      </a:solidFill>
                    </a:lnB>
                  </a:tcPr>
                </a:tc>
                <a:tc>
                  <a:txBody>
                    <a:bodyPr/>
                    <a:lstStyle/>
                    <a:p>
                      <a:pPr algn="ctr">
                        <a:defRPr sz="900">
                          <a:solidFill>
                            <a:srgbClr val="212529"/>
                          </a:solidFill>
                        </a:defRPr>
                      </a:pPr>
                      <a:r>
                        <a:t>0.9504</a:t>
                      </a:r>
                    </a:p>
                  </a:txBody>
                  <a:tcPr>
                    <a:solidFill>
                      <a:srgbClr val="F8FAFC"/>
                    </a:solidFill>
                    <a:lnL w="12700" cmpd="s">
                      <a:solidFill>
                        <a:srgbClr val="CBD5E1"/>
                      </a:solidFill>
                    </a:lnL>
                    <a:lnR w="12700" cmpd="s">
                      <a:solidFill>
                        <a:srgbClr val="CBD5E1"/>
                      </a:solidFill>
                    </a:lnR>
                    <a:lnT w="12700" cmpd="s">
                      <a:solidFill>
                        <a:srgbClr val="CBD5E1"/>
                      </a:solidFill>
                    </a:lnT>
                    <a:lnB w="12700" cmpd="s">
                      <a:solidFill>
                        <a:srgbClr val="CBD5E1"/>
                      </a:solidFill>
                    </a:lnB>
                  </a:tcPr>
                </a:tc>
                <a:tc>
                  <a:txBody>
                    <a:bodyPr/>
                    <a:lstStyle/>
                    <a:p>
                      <a:pPr algn="ctr">
                        <a:defRPr sz="900">
                          <a:solidFill>
                            <a:srgbClr val="212529"/>
                          </a:solidFill>
                        </a:defRPr>
                      </a:pPr>
                      <a:r>
                        <a:t>0.8693</a:t>
                      </a:r>
                    </a:p>
                  </a:txBody>
                  <a:tcPr>
                    <a:solidFill>
                      <a:srgbClr val="F8FAFC"/>
                    </a:solidFill>
                    <a:lnL w="12700" cmpd="s">
                      <a:solidFill>
                        <a:srgbClr val="CBD5E1"/>
                      </a:solidFill>
                    </a:lnL>
                    <a:lnR w="12700" cmpd="s">
                      <a:solidFill>
                        <a:srgbClr val="CBD5E1"/>
                      </a:solidFill>
                    </a:lnR>
                    <a:lnT w="12700" cmpd="s">
                      <a:solidFill>
                        <a:srgbClr val="CBD5E1"/>
                      </a:solidFill>
                    </a:lnT>
                    <a:lnB w="12700" cmpd="s">
                      <a:solidFill>
                        <a:srgbClr val="CBD5E1"/>
                      </a:solidFill>
                    </a:lnB>
                  </a:tcPr>
                </a:tc>
                <a:tc>
                  <a:txBody>
                    <a:bodyPr/>
                    <a:lstStyle/>
                    <a:p>
                      <a:pPr algn="ctr">
                        <a:defRPr sz="900">
                          <a:solidFill>
                            <a:srgbClr val="212529"/>
                          </a:solidFill>
                        </a:defRPr>
                      </a:pPr>
                      <a:r>
                        <a:t>15.25%</a:t>
                      </a:r>
                    </a:p>
                  </a:txBody>
                  <a:tcPr>
                    <a:solidFill>
                      <a:srgbClr val="F8FAFC"/>
                    </a:solidFill>
                    <a:lnL w="12700" cmpd="s">
                      <a:solidFill>
                        <a:srgbClr val="CBD5E1"/>
                      </a:solidFill>
                    </a:lnL>
                    <a:lnR w="12700" cmpd="s">
                      <a:solidFill>
                        <a:srgbClr val="CBD5E1"/>
                      </a:solidFill>
                    </a:lnR>
                    <a:lnT w="12700" cmpd="s">
                      <a:solidFill>
                        <a:srgbClr val="CBD5E1"/>
                      </a:solidFill>
                    </a:lnT>
                    <a:lnB w="12700" cmpd="s">
                      <a:solidFill>
                        <a:srgbClr val="CBD5E1"/>
                      </a:solidFill>
                    </a:lnB>
                  </a:tcPr>
                </a:tc>
              </a:tr>
              <a:tr h="320040">
                <a:tc>
                  <a:txBody>
                    <a:bodyPr/>
                    <a:lstStyle/>
                    <a:p>
                      <a:pPr algn="l">
                        <a:defRPr sz="900">
                          <a:solidFill>
                            <a:srgbClr val="212529"/>
                          </a:solidFill>
                        </a:defRPr>
                      </a:pPr>
                      <a:r>
                        <a:t>DecisionTree</a:t>
                      </a:r>
                    </a:p>
                  </a:txBody>
                  <a:tcPr>
                    <a:solidFill>
                      <a:srgbClr val="FFFFFF"/>
                    </a:solidFill>
                    <a:lnL w="12700" cmpd="s">
                      <a:solidFill>
                        <a:srgbClr val="CBD5E1"/>
                      </a:solidFill>
                    </a:lnL>
                    <a:lnR w="12700" cmpd="s">
                      <a:solidFill>
                        <a:srgbClr val="CBD5E1"/>
                      </a:solidFill>
                    </a:lnR>
                    <a:lnT w="12700" cmpd="s">
                      <a:solidFill>
                        <a:srgbClr val="CBD5E1"/>
                      </a:solidFill>
                    </a:lnT>
                    <a:lnB w="12700" cmpd="s">
                      <a:solidFill>
                        <a:srgbClr val="CBD5E1"/>
                      </a:solidFill>
                    </a:lnB>
                  </a:tcPr>
                </a:tc>
                <a:tc>
                  <a:txBody>
                    <a:bodyPr/>
                    <a:lstStyle/>
                    <a:p>
                      <a:pPr algn="ctr">
                        <a:defRPr sz="900">
                          <a:solidFill>
                            <a:srgbClr val="212529"/>
                          </a:solidFill>
                        </a:defRPr>
                      </a:pPr>
                      <a:r>
                        <a:t>90.33%</a:t>
                      </a:r>
                    </a:p>
                  </a:txBody>
                  <a:tcPr>
                    <a:solidFill>
                      <a:srgbClr val="FFFFFF"/>
                    </a:solidFill>
                    <a:lnL w="12700" cmpd="s">
                      <a:solidFill>
                        <a:srgbClr val="CBD5E1"/>
                      </a:solidFill>
                    </a:lnL>
                    <a:lnR w="12700" cmpd="s">
                      <a:solidFill>
                        <a:srgbClr val="CBD5E1"/>
                      </a:solidFill>
                    </a:lnR>
                    <a:lnT w="12700" cmpd="s">
                      <a:solidFill>
                        <a:srgbClr val="CBD5E1"/>
                      </a:solidFill>
                    </a:lnT>
                    <a:lnB w="12700" cmpd="s">
                      <a:solidFill>
                        <a:srgbClr val="CBD5E1"/>
                      </a:solidFill>
                    </a:lnB>
                  </a:tcPr>
                </a:tc>
                <a:tc>
                  <a:txBody>
                    <a:bodyPr/>
                    <a:lstStyle/>
                    <a:p>
                      <a:pPr algn="ctr">
                        <a:defRPr sz="900">
                          <a:solidFill>
                            <a:srgbClr val="212529"/>
                          </a:solidFill>
                        </a:defRPr>
                      </a:pPr>
                      <a:r>
                        <a:t>0.9261</a:t>
                      </a:r>
                    </a:p>
                  </a:txBody>
                  <a:tcPr>
                    <a:solidFill>
                      <a:srgbClr val="FFFFFF"/>
                    </a:solidFill>
                    <a:lnL w="12700" cmpd="s">
                      <a:solidFill>
                        <a:srgbClr val="CBD5E1"/>
                      </a:solidFill>
                    </a:lnL>
                    <a:lnR w="12700" cmpd="s">
                      <a:solidFill>
                        <a:srgbClr val="CBD5E1"/>
                      </a:solidFill>
                    </a:lnR>
                    <a:lnT w="12700" cmpd="s">
                      <a:solidFill>
                        <a:srgbClr val="CBD5E1"/>
                      </a:solidFill>
                    </a:lnT>
                    <a:lnB w="12700" cmpd="s">
                      <a:solidFill>
                        <a:srgbClr val="CBD5E1"/>
                      </a:solidFill>
                    </a:lnB>
                  </a:tcPr>
                </a:tc>
                <a:tc>
                  <a:txBody>
                    <a:bodyPr/>
                    <a:lstStyle/>
                    <a:p>
                      <a:pPr algn="ctr">
                        <a:defRPr sz="900">
                          <a:solidFill>
                            <a:srgbClr val="212529"/>
                          </a:solidFill>
                        </a:defRPr>
                      </a:pPr>
                      <a:r>
                        <a:t>0.9050</a:t>
                      </a:r>
                    </a:p>
                  </a:txBody>
                  <a:tcPr>
                    <a:solidFill>
                      <a:srgbClr val="FFFFFF"/>
                    </a:solidFill>
                    <a:lnL w="12700" cmpd="s">
                      <a:solidFill>
                        <a:srgbClr val="CBD5E1"/>
                      </a:solidFill>
                    </a:lnL>
                    <a:lnR w="12700" cmpd="s">
                      <a:solidFill>
                        <a:srgbClr val="CBD5E1"/>
                      </a:solidFill>
                    </a:lnR>
                    <a:lnT w="12700" cmpd="s">
                      <a:solidFill>
                        <a:srgbClr val="CBD5E1"/>
                      </a:solidFill>
                    </a:lnT>
                    <a:lnB w="12700" cmpd="s">
                      <a:solidFill>
                        <a:srgbClr val="CBD5E1"/>
                      </a:solidFill>
                    </a:lnB>
                  </a:tcPr>
                </a:tc>
                <a:tc>
                  <a:txBody>
                    <a:bodyPr/>
                    <a:lstStyle/>
                    <a:p>
                      <a:pPr algn="ctr">
                        <a:defRPr sz="900">
                          <a:solidFill>
                            <a:srgbClr val="212529"/>
                          </a:solidFill>
                        </a:defRPr>
                      </a:pPr>
                      <a:r>
                        <a:t>11.40%</a:t>
                      </a:r>
                    </a:p>
                  </a:txBody>
                  <a:tcPr>
                    <a:solidFill>
                      <a:srgbClr val="FFFFFF"/>
                    </a:solidFill>
                    <a:lnL w="12700" cmpd="s">
                      <a:solidFill>
                        <a:srgbClr val="CBD5E1"/>
                      </a:solidFill>
                    </a:lnL>
                    <a:lnR w="12700" cmpd="s">
                      <a:solidFill>
                        <a:srgbClr val="CBD5E1"/>
                      </a:solidFill>
                    </a:lnR>
                    <a:lnT w="12700" cmpd="s">
                      <a:solidFill>
                        <a:srgbClr val="CBD5E1"/>
                      </a:solidFill>
                    </a:lnT>
                    <a:lnB w="12700" cmpd="s">
                      <a:solidFill>
                        <a:srgbClr val="CBD5E1"/>
                      </a:solidFill>
                    </a:lnB>
                  </a:tcPr>
                </a:tc>
              </a:tr>
              <a:tr h="320040">
                <a:tc>
                  <a:txBody>
                    <a:bodyPr/>
                    <a:lstStyle/>
                    <a:p>
                      <a:pPr algn="l">
                        <a:defRPr sz="900">
                          <a:solidFill>
                            <a:srgbClr val="212529"/>
                          </a:solidFill>
                        </a:defRPr>
                      </a:pPr>
                      <a:r>
                        <a:t>AdaBoost</a:t>
                      </a:r>
                    </a:p>
                  </a:txBody>
                  <a:tcPr>
                    <a:solidFill>
                      <a:srgbClr val="F8FAFC"/>
                    </a:solidFill>
                    <a:lnL w="12700" cmpd="s">
                      <a:solidFill>
                        <a:srgbClr val="CBD5E1"/>
                      </a:solidFill>
                    </a:lnL>
                    <a:lnR w="12700" cmpd="s">
                      <a:solidFill>
                        <a:srgbClr val="CBD5E1"/>
                      </a:solidFill>
                    </a:lnR>
                    <a:lnT w="12700" cmpd="s">
                      <a:solidFill>
                        <a:srgbClr val="CBD5E1"/>
                      </a:solidFill>
                    </a:lnT>
                    <a:lnB w="12700" cmpd="s">
                      <a:solidFill>
                        <a:srgbClr val="CBD5E1"/>
                      </a:solidFill>
                    </a:lnB>
                  </a:tcPr>
                </a:tc>
                <a:tc>
                  <a:txBody>
                    <a:bodyPr/>
                    <a:lstStyle/>
                    <a:p>
                      <a:pPr algn="ctr">
                        <a:defRPr sz="900">
                          <a:solidFill>
                            <a:srgbClr val="212529"/>
                          </a:solidFill>
                        </a:defRPr>
                      </a:pPr>
                      <a:r>
                        <a:t>80.03%</a:t>
                      </a:r>
                    </a:p>
                  </a:txBody>
                  <a:tcPr>
                    <a:solidFill>
                      <a:srgbClr val="F8FAFC"/>
                    </a:solidFill>
                    <a:lnL w="12700" cmpd="s">
                      <a:solidFill>
                        <a:srgbClr val="CBD5E1"/>
                      </a:solidFill>
                    </a:lnL>
                    <a:lnR w="12700" cmpd="s">
                      <a:solidFill>
                        <a:srgbClr val="CBD5E1"/>
                      </a:solidFill>
                    </a:lnR>
                    <a:lnT w="12700" cmpd="s">
                      <a:solidFill>
                        <a:srgbClr val="CBD5E1"/>
                      </a:solidFill>
                    </a:lnT>
                    <a:lnB w="12700" cmpd="s">
                      <a:solidFill>
                        <a:srgbClr val="CBD5E1"/>
                      </a:solidFill>
                    </a:lnB>
                  </a:tcPr>
                </a:tc>
                <a:tc>
                  <a:txBody>
                    <a:bodyPr/>
                    <a:lstStyle/>
                    <a:p>
                      <a:pPr algn="ctr">
                        <a:defRPr sz="900">
                          <a:solidFill>
                            <a:srgbClr val="212529"/>
                          </a:solidFill>
                        </a:defRPr>
                      </a:pPr>
                      <a:r>
                        <a:t>0.8950</a:t>
                      </a:r>
                    </a:p>
                  </a:txBody>
                  <a:tcPr>
                    <a:solidFill>
                      <a:srgbClr val="F8FAFC"/>
                    </a:solidFill>
                    <a:lnL w="12700" cmpd="s">
                      <a:solidFill>
                        <a:srgbClr val="CBD5E1"/>
                      </a:solidFill>
                    </a:lnL>
                    <a:lnR w="12700" cmpd="s">
                      <a:solidFill>
                        <a:srgbClr val="CBD5E1"/>
                      </a:solidFill>
                    </a:lnR>
                    <a:lnT w="12700" cmpd="s">
                      <a:solidFill>
                        <a:srgbClr val="CBD5E1"/>
                      </a:solidFill>
                    </a:lnT>
                    <a:lnB w="12700" cmpd="s">
                      <a:solidFill>
                        <a:srgbClr val="CBD5E1"/>
                      </a:solidFill>
                    </a:lnB>
                  </a:tcPr>
                </a:tc>
                <a:tc>
                  <a:txBody>
                    <a:bodyPr/>
                    <a:lstStyle/>
                    <a:p>
                      <a:pPr algn="ctr">
                        <a:defRPr sz="900">
                          <a:solidFill>
                            <a:srgbClr val="212529"/>
                          </a:solidFill>
                        </a:defRPr>
                      </a:pPr>
                      <a:r>
                        <a:t>0.8136</a:t>
                      </a:r>
                    </a:p>
                  </a:txBody>
                  <a:tcPr>
                    <a:solidFill>
                      <a:srgbClr val="F8FAFC"/>
                    </a:solidFill>
                    <a:lnL w="12700" cmpd="s">
                      <a:solidFill>
                        <a:srgbClr val="CBD5E1"/>
                      </a:solidFill>
                    </a:lnL>
                    <a:lnR w="12700" cmpd="s">
                      <a:solidFill>
                        <a:srgbClr val="CBD5E1"/>
                      </a:solidFill>
                    </a:lnR>
                    <a:lnT w="12700" cmpd="s">
                      <a:solidFill>
                        <a:srgbClr val="CBD5E1"/>
                      </a:solidFill>
                    </a:lnT>
                    <a:lnB w="12700" cmpd="s">
                      <a:solidFill>
                        <a:srgbClr val="CBD5E1"/>
                      </a:solidFill>
                    </a:lnB>
                  </a:tcPr>
                </a:tc>
                <a:tc>
                  <a:txBody>
                    <a:bodyPr/>
                    <a:lstStyle/>
                    <a:p>
                      <a:pPr algn="ctr">
                        <a:defRPr sz="900">
                          <a:solidFill>
                            <a:srgbClr val="212529"/>
                          </a:solidFill>
                        </a:defRPr>
                      </a:pPr>
                      <a:r>
                        <a:t>27.12%</a:t>
                      </a:r>
                    </a:p>
                  </a:txBody>
                  <a:tcPr>
                    <a:solidFill>
                      <a:srgbClr val="F8FAFC"/>
                    </a:solidFill>
                    <a:lnL w="12700" cmpd="s">
                      <a:solidFill>
                        <a:srgbClr val="CBD5E1"/>
                      </a:solidFill>
                    </a:lnL>
                    <a:lnR w="12700" cmpd="s">
                      <a:solidFill>
                        <a:srgbClr val="CBD5E1"/>
                      </a:solidFill>
                    </a:lnR>
                    <a:lnT w="12700" cmpd="s">
                      <a:solidFill>
                        <a:srgbClr val="CBD5E1"/>
                      </a:solidFill>
                    </a:lnT>
                    <a:lnB w="12700" cmpd="s">
                      <a:solidFill>
                        <a:srgbClr val="CBD5E1"/>
                      </a:solidFill>
                    </a:lnB>
                  </a:tcPr>
                </a:tc>
              </a:tr>
              <a:tr h="320040">
                <a:tc>
                  <a:txBody>
                    <a:bodyPr/>
                    <a:lstStyle/>
                    <a:p>
                      <a:pPr algn="l">
                        <a:defRPr sz="900">
                          <a:solidFill>
                            <a:srgbClr val="212529"/>
                          </a:solidFill>
                        </a:defRPr>
                      </a:pPr>
                      <a:r>
                        <a:t>Baseline (LogisticReg)</a:t>
                      </a:r>
                    </a:p>
                  </a:txBody>
                  <a:tcPr>
                    <a:solidFill>
                      <a:srgbClr val="FFFFFF"/>
                    </a:solidFill>
                    <a:lnL w="12700" cmpd="s">
                      <a:solidFill>
                        <a:srgbClr val="CBD5E1"/>
                      </a:solidFill>
                    </a:lnL>
                    <a:lnR w="12700" cmpd="s">
                      <a:solidFill>
                        <a:srgbClr val="CBD5E1"/>
                      </a:solidFill>
                    </a:lnR>
                    <a:lnT w="12700" cmpd="s">
                      <a:solidFill>
                        <a:srgbClr val="CBD5E1"/>
                      </a:solidFill>
                    </a:lnT>
                    <a:lnB w="12700" cmpd="s">
                      <a:solidFill>
                        <a:srgbClr val="CBD5E1"/>
                      </a:solidFill>
                    </a:lnB>
                  </a:tcPr>
                </a:tc>
                <a:tc>
                  <a:txBody>
                    <a:bodyPr/>
                    <a:lstStyle/>
                    <a:p>
                      <a:pPr algn="ctr">
                        <a:defRPr sz="900">
                          <a:solidFill>
                            <a:srgbClr val="212529"/>
                          </a:solidFill>
                        </a:defRPr>
                      </a:pPr>
                      <a:r>
                        <a:t>50.93%</a:t>
                      </a:r>
                    </a:p>
                  </a:txBody>
                  <a:tcPr>
                    <a:solidFill>
                      <a:srgbClr val="FFFFFF"/>
                    </a:solidFill>
                    <a:lnL w="12700" cmpd="s">
                      <a:solidFill>
                        <a:srgbClr val="CBD5E1"/>
                      </a:solidFill>
                    </a:lnL>
                    <a:lnR w="12700" cmpd="s">
                      <a:solidFill>
                        <a:srgbClr val="CBD5E1"/>
                      </a:solidFill>
                    </a:lnR>
                    <a:lnT w="12700" cmpd="s">
                      <a:solidFill>
                        <a:srgbClr val="CBD5E1"/>
                      </a:solidFill>
                    </a:lnT>
                    <a:lnB w="12700" cmpd="s">
                      <a:solidFill>
                        <a:srgbClr val="CBD5E1"/>
                      </a:solidFill>
                    </a:lnB>
                  </a:tcPr>
                </a:tc>
                <a:tc>
                  <a:txBody>
                    <a:bodyPr/>
                    <a:lstStyle/>
                    <a:p>
                      <a:pPr algn="ctr">
                        <a:defRPr sz="900">
                          <a:solidFill>
                            <a:srgbClr val="212529"/>
                          </a:solidFill>
                        </a:defRPr>
                      </a:pPr>
                      <a:r>
                        <a:t>0.5512</a:t>
                      </a:r>
                    </a:p>
                  </a:txBody>
                  <a:tcPr>
                    <a:solidFill>
                      <a:srgbClr val="FFFFFF"/>
                    </a:solidFill>
                    <a:lnL w="12700" cmpd="s">
                      <a:solidFill>
                        <a:srgbClr val="CBD5E1"/>
                      </a:solidFill>
                    </a:lnL>
                    <a:lnR w="12700" cmpd="s">
                      <a:solidFill>
                        <a:srgbClr val="CBD5E1"/>
                      </a:solidFill>
                    </a:lnR>
                    <a:lnT w="12700" cmpd="s">
                      <a:solidFill>
                        <a:srgbClr val="CBD5E1"/>
                      </a:solidFill>
                    </a:lnT>
                    <a:lnB w="12700" cmpd="s">
                      <a:solidFill>
                        <a:srgbClr val="CBD5E1"/>
                      </a:solidFill>
                    </a:lnB>
                  </a:tcPr>
                </a:tc>
                <a:tc>
                  <a:txBody>
                    <a:bodyPr/>
                    <a:lstStyle/>
                    <a:p>
                      <a:pPr algn="ctr">
                        <a:defRPr sz="900">
                          <a:solidFill>
                            <a:srgbClr val="212529"/>
                          </a:solidFill>
                        </a:defRPr>
                      </a:pPr>
                      <a:r>
                        <a:t>0.5580</a:t>
                      </a:r>
                    </a:p>
                  </a:txBody>
                  <a:tcPr>
                    <a:solidFill>
                      <a:srgbClr val="FFFFFF"/>
                    </a:solidFill>
                    <a:lnL w="12700" cmpd="s">
                      <a:solidFill>
                        <a:srgbClr val="CBD5E1"/>
                      </a:solidFill>
                    </a:lnL>
                    <a:lnR w="12700" cmpd="s">
                      <a:solidFill>
                        <a:srgbClr val="CBD5E1"/>
                      </a:solidFill>
                    </a:lnR>
                    <a:lnT w="12700" cmpd="s">
                      <a:solidFill>
                        <a:srgbClr val="CBD5E1"/>
                      </a:solidFill>
                    </a:lnT>
                    <a:lnB w="12700" cmpd="s">
                      <a:solidFill>
                        <a:srgbClr val="CBD5E1"/>
                      </a:solidFill>
                    </a:lnB>
                  </a:tcPr>
                </a:tc>
                <a:tc>
                  <a:txBody>
                    <a:bodyPr/>
                    <a:lstStyle/>
                    <a:p>
                      <a:pPr algn="ctr">
                        <a:defRPr sz="900">
                          <a:solidFill>
                            <a:srgbClr val="212529"/>
                          </a:solidFill>
                        </a:defRPr>
                      </a:pPr>
                      <a:r>
                        <a:t>60.10%</a:t>
                      </a:r>
                    </a:p>
                  </a:txBody>
                  <a:tcPr>
                    <a:solidFill>
                      <a:srgbClr val="FFFFFF"/>
                    </a:solidFill>
                    <a:lnL w="12700" cmpd="s">
                      <a:solidFill>
                        <a:srgbClr val="CBD5E1"/>
                      </a:solidFill>
                    </a:lnL>
                    <a:lnR w="12700" cmpd="s">
                      <a:solidFill>
                        <a:srgbClr val="CBD5E1"/>
                      </a:solidFill>
                    </a:lnR>
                    <a:lnT w="12700" cmpd="s">
                      <a:solidFill>
                        <a:srgbClr val="CBD5E1"/>
                      </a:solidFill>
                    </a:lnT>
                    <a:lnB w="12700" cmpd="s">
                      <a:solidFill>
                        <a:srgbClr val="CBD5E1"/>
                      </a:solidFill>
                    </a:lnB>
                  </a:tcPr>
                </a:tc>
              </a:tr>
            </a:tbl>
          </a:graphicData>
        </a:graphic>
      </p:graphicFrame>
      <p:sp>
        <p:nvSpPr>
          <p:cNvPr id="7" name="TextBox 6"/>
          <p:cNvSpPr txBox="1"/>
          <p:nvPr/>
        </p:nvSpPr>
        <p:spPr>
          <a:xfrm>
            <a:off x="987552" y="4526280"/>
            <a:ext cx="4791456" cy="1600200"/>
          </a:xfrm>
          <a:prstGeom prst="rect">
            <a:avLst/>
          </a:prstGeom>
          <a:noFill/>
        </p:spPr>
        <p:txBody>
          <a:bodyPr wrap="square" lIns="0" tIns="0" rIns="0" bIns="0">
            <a:spAutoFit/>
          </a:bodyPr>
          <a:lstStyle/>
          <a:p>
            <a:pPr>
              <a:defRPr b="1" sz="1050">
                <a:solidFill>
                  <a:srgbClr val="1B365D"/>
                </a:solidFill>
              </a:defRPr>
            </a:pPr>
            <a:r>
              <a:t>Nhận xét kết quả thực nghiệm:</a:t>
            </a:r>
          </a:p>
          <a:p>
            <a:pPr>
              <a:defRPr sz="950">
                <a:solidFill>
                  <a:srgbClr val="212529"/>
                </a:solidFill>
              </a:defRPr>
            </a:pPr>
            <a:r>
              <a:t>• Random Forest &amp; Extra Trees dẫn đầu toàn diện (AUC ~0.989, F1 ~0.946).</a:t>
            </a:r>
          </a:p>
          <a:p>
            <a:pPr>
              <a:defRPr sz="950">
                <a:solidFill>
                  <a:srgbClr val="212529"/>
                </a:solidFill>
              </a:defRPr>
            </a:pPr>
            <a:r>
              <a:t>• FPR của Random Forest chỉ 4.40%, thấp hơn 13 lần so với Baseline (60.10%).</a:t>
            </a:r>
          </a:p>
          <a:p>
            <a:pPr>
              <a:defRPr sz="950">
                <a:solidFill>
                  <a:srgbClr val="212529"/>
                </a:solidFill>
              </a:defRPr>
            </a:pPr>
            <a:r>
              <a:t>• Thời gian train RF chỉ 1.00s, khẳng định 44 đặc trưng Header rất tối ưu.</a:t>
            </a:r>
          </a:p>
        </p:txBody>
      </p:sp>
      <p:sp>
        <p:nvSpPr>
          <p:cNvPr id="8" name="Rounded Rectangle 7"/>
          <p:cNvSpPr/>
          <p:nvPr/>
        </p:nvSpPr>
        <p:spPr>
          <a:xfrm>
            <a:off x="6217920" y="1280160"/>
            <a:ext cx="5303520" cy="4937760"/>
          </a:xfrm>
          <a:prstGeom prst="roundRect">
            <a:avLst>
              <a:gd name="adj" fmla="val 3500"/>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73952" y="1463040"/>
            <a:ext cx="4791456" cy="347472"/>
          </a:xfrm>
          <a:prstGeom prst="rect">
            <a:avLst/>
          </a:prstGeom>
          <a:noFill/>
        </p:spPr>
        <p:txBody>
          <a:bodyPr wrap="square" lIns="0" tIns="0" rIns="0" bIns="0">
            <a:spAutoFit/>
          </a:bodyPr>
          <a:lstStyle/>
          <a:p>
            <a:pPr>
              <a:defRPr sz="1300" b="1">
                <a:solidFill>
                  <a:srgbClr val="1B365D"/>
                </a:solidFill>
              </a:defRPr>
            </a:pPr>
            <a:r>
              <a:t>So Sánh Hiệu Năng Các Mô Hình (Native Chart)</a:t>
            </a:r>
          </a:p>
        </p:txBody>
      </p:sp>
      <p:graphicFrame>
        <p:nvGraphicFramePr>
          <p:cNvPr id="10" name="Chart 9"/>
          <p:cNvGraphicFramePr>
            <a:graphicFrameLocks noGrp="1"/>
          </p:cNvGraphicFramePr>
          <p:nvPr/>
        </p:nvGraphicFramePr>
        <p:xfrm>
          <a:off x="6355080" y="1783080"/>
          <a:ext cx="5029200" cy="4206240"/>
        </p:xfrm>
        <a:graphic>
          <a:graphicData uri="http://schemas.openxmlformats.org/drawingml/2006/chart">
            <c:chart xmlns:c="http://schemas.openxmlformats.org/drawingml/2006/chart" r:id="rId2"/>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058400" cy="274320"/>
          </a:xfrm>
          <a:prstGeom prst="rect">
            <a:avLst/>
          </a:prstGeom>
          <a:noFill/>
        </p:spPr>
        <p:txBody>
          <a:bodyPr wrap="square">
            <a:spAutoFit/>
          </a:bodyPr>
          <a:lstStyle/>
          <a:p>
            <a:pPr>
              <a:defRPr sz="1000" b="1">
                <a:solidFill>
                  <a:srgbClr val="008080"/>
                </a:solidFill>
              </a:defRPr>
            </a:pPr>
            <a:r>
              <a:t>BÁO CÁO GIỮA KÌ - AN TOÀN VÀ BẢO MẬT HỆ THỐNG THÔNG TIN</a:t>
            </a:r>
          </a:p>
        </p:txBody>
      </p:sp>
      <p:sp>
        <p:nvSpPr>
          <p:cNvPr id="3" name="TextBox 2"/>
          <p:cNvSpPr txBox="1"/>
          <p:nvPr/>
        </p:nvSpPr>
        <p:spPr>
          <a:xfrm>
            <a:off x="731520" y="594360"/>
            <a:ext cx="10515600" cy="548640"/>
          </a:xfrm>
          <a:prstGeom prst="rect">
            <a:avLst/>
          </a:prstGeom>
          <a:noFill/>
        </p:spPr>
        <p:txBody>
          <a:bodyPr wrap="square">
            <a:spAutoFit/>
          </a:bodyPr>
          <a:lstStyle/>
          <a:p>
            <a:pPr>
              <a:defRPr sz="2200" b="1">
                <a:solidFill>
                  <a:srgbClr val="1B365D"/>
                </a:solidFill>
              </a:defRPr>
            </a:pPr>
            <a:r>
              <a:t>7. Kết Quả Kiểm Tra Drift Theo Thời Gian (Phần B)</a:t>
            </a:r>
          </a:p>
        </p:txBody>
      </p:sp>
      <p:sp>
        <p:nvSpPr>
          <p:cNvPr id="4" name="Rounded Rectangle 3"/>
          <p:cNvSpPr/>
          <p:nvPr/>
        </p:nvSpPr>
        <p:spPr>
          <a:xfrm>
            <a:off x="731520" y="1280160"/>
            <a:ext cx="5303520" cy="4937760"/>
          </a:xfrm>
          <a:prstGeom prst="roundRect">
            <a:avLst>
              <a:gd name="adj" fmla="val 3500"/>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7552" y="1463040"/>
            <a:ext cx="4791456" cy="347472"/>
          </a:xfrm>
          <a:prstGeom prst="rect">
            <a:avLst/>
          </a:prstGeom>
          <a:noFill/>
        </p:spPr>
        <p:txBody>
          <a:bodyPr wrap="square" lIns="0" tIns="0" rIns="0" bIns="0">
            <a:spAutoFit/>
          </a:bodyPr>
          <a:lstStyle/>
          <a:p>
            <a:pPr>
              <a:defRPr sz="1300" b="1">
                <a:solidFill>
                  <a:srgbClr val="1B365D"/>
                </a:solidFill>
              </a:defRPr>
            </a:pPr>
            <a:r>
              <a:t>Suy Giảm Hiệu Năng Theo Tháng (Mô Hình Tĩnh)</a:t>
            </a:r>
          </a:p>
        </p:txBody>
      </p:sp>
      <p:graphicFrame>
        <p:nvGraphicFramePr>
          <p:cNvPr id="6" name="Chart 5"/>
          <p:cNvGraphicFramePr>
            <a:graphicFrameLocks noGrp="1"/>
          </p:cNvGraphicFramePr>
          <p:nvPr/>
        </p:nvGraphicFramePr>
        <p:xfrm>
          <a:off x="914400" y="1874519"/>
          <a:ext cx="4937760" cy="3566160"/>
        </p:xfrm>
        <a:graphic>
          <a:graphicData uri="http://schemas.openxmlformats.org/drawingml/2006/chart">
            <c:chart xmlns:c="http://schemas.openxmlformats.org/drawingml/2006/chart" r:id="rId2"/>
          </a:graphicData>
        </a:graphic>
      </p:graphicFrame>
      <p:sp>
        <p:nvSpPr>
          <p:cNvPr id="7" name="TextBox 6"/>
          <p:cNvSpPr txBox="1"/>
          <p:nvPr/>
        </p:nvSpPr>
        <p:spPr>
          <a:xfrm>
            <a:off x="987552" y="5577840"/>
            <a:ext cx="4791456" cy="502920"/>
          </a:xfrm>
          <a:prstGeom prst="rect">
            <a:avLst/>
          </a:prstGeom>
          <a:noFill/>
        </p:spPr>
        <p:txBody>
          <a:bodyPr wrap="none" lIns="0" tIns="0" rIns="0" bIns="0">
            <a:spAutoFit/>
          </a:bodyPr>
          <a:lstStyle/>
          <a:p>
            <a:pPr>
              <a:defRPr sz="950" i="1">
                <a:solidFill>
                  <a:srgbClr val="212529"/>
                </a:solidFill>
              </a:defRPr>
            </a:pPr>
            <a:r>
              <a:t>▶ Nhận định: FPR tăng vọt từ 5.95% lên 11.45% (gần gấp đôi) sau 4 tháng; ROC-AUC giảm từ 97.62% xuống 95.15% do hiện tượng trôi dạt dữ liệu.</a:t>
            </a:r>
          </a:p>
        </p:txBody>
      </p:sp>
      <p:sp>
        <p:nvSpPr>
          <p:cNvPr id="8" name="Rounded Rectangle 7"/>
          <p:cNvSpPr/>
          <p:nvPr/>
        </p:nvSpPr>
        <p:spPr>
          <a:xfrm>
            <a:off x="6217920" y="1280160"/>
            <a:ext cx="5303520" cy="4937760"/>
          </a:xfrm>
          <a:prstGeom prst="roundRect">
            <a:avLst>
              <a:gd name="adj" fmla="val 3500"/>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73952" y="1463040"/>
            <a:ext cx="4791456" cy="347472"/>
          </a:xfrm>
          <a:prstGeom prst="rect">
            <a:avLst/>
          </a:prstGeom>
          <a:noFill/>
        </p:spPr>
        <p:txBody>
          <a:bodyPr wrap="square" lIns="0" tIns="0" rIns="0" bIns="0">
            <a:spAutoFit/>
          </a:bodyPr>
          <a:lstStyle/>
          <a:p>
            <a:pPr>
              <a:defRPr sz="1300" b="1">
                <a:solidFill>
                  <a:srgbClr val="1B365D"/>
                </a:solidFill>
              </a:defRPr>
            </a:pPr>
            <a:r>
              <a:t>Phục Hồi Bằng Huấn Luyện Lại (Sliding Window)</a:t>
            </a:r>
          </a:p>
        </p:txBody>
      </p:sp>
      <p:graphicFrame>
        <p:nvGraphicFramePr>
          <p:cNvPr id="10" name="Chart 9"/>
          <p:cNvGraphicFramePr>
            <a:graphicFrameLocks noGrp="1"/>
          </p:cNvGraphicFramePr>
          <p:nvPr/>
        </p:nvGraphicFramePr>
        <p:xfrm>
          <a:off x="6400800" y="1874519"/>
          <a:ext cx="4937760" cy="3566160"/>
        </p:xfrm>
        <a:graphic>
          <a:graphicData uri="http://schemas.openxmlformats.org/drawingml/2006/chart">
            <c:chart xmlns:c="http://schemas.openxmlformats.org/drawingml/2006/chart" r:id="rId3"/>
          </a:graphicData>
        </a:graphic>
      </p:graphicFrame>
      <p:sp>
        <p:nvSpPr>
          <p:cNvPr id="11" name="TextBox 10"/>
          <p:cNvSpPr txBox="1"/>
          <p:nvPr/>
        </p:nvSpPr>
        <p:spPr>
          <a:xfrm>
            <a:off x="6473952" y="5577840"/>
            <a:ext cx="4791456" cy="502920"/>
          </a:xfrm>
          <a:prstGeom prst="rect">
            <a:avLst/>
          </a:prstGeom>
          <a:noFill/>
        </p:spPr>
        <p:txBody>
          <a:bodyPr wrap="none" lIns="0" tIns="0" rIns="0" bIns="0">
            <a:spAutoFit/>
          </a:bodyPr>
          <a:lstStyle/>
          <a:p>
            <a:pPr>
              <a:defRPr sz="950" i="1">
                <a:solidFill>
                  <a:srgbClr val="212529"/>
                </a:solidFill>
              </a:defRPr>
            </a:pPr>
            <a:r>
              <a:t>▶ Nhận định: Tại T12, Retraining phục hồi ROC-AUC lên 97.60% (+2.45%), F1 lên 92.29% (+4.05%), và kéo giảm FPR từ 11.45% xuống 7.90% (-3.55%).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058400" cy="274320"/>
          </a:xfrm>
          <a:prstGeom prst="rect">
            <a:avLst/>
          </a:prstGeom>
          <a:noFill/>
        </p:spPr>
        <p:txBody>
          <a:bodyPr wrap="square">
            <a:spAutoFit/>
          </a:bodyPr>
          <a:lstStyle/>
          <a:p>
            <a:pPr>
              <a:defRPr sz="1000" b="1">
                <a:solidFill>
                  <a:srgbClr val="008080"/>
                </a:solidFill>
              </a:defRPr>
            </a:pPr>
            <a:r>
              <a:t>BÁO CÁO GIỮA KÌ - AN TOÀN VÀ BẢO MẬT HỆ THỐNG THÔNG TIN</a:t>
            </a:r>
          </a:p>
        </p:txBody>
      </p:sp>
      <p:sp>
        <p:nvSpPr>
          <p:cNvPr id="3" name="TextBox 2"/>
          <p:cNvSpPr txBox="1"/>
          <p:nvPr/>
        </p:nvSpPr>
        <p:spPr>
          <a:xfrm>
            <a:off x="731520" y="594360"/>
            <a:ext cx="10515600" cy="548640"/>
          </a:xfrm>
          <a:prstGeom prst="rect">
            <a:avLst/>
          </a:prstGeom>
          <a:noFill/>
        </p:spPr>
        <p:txBody>
          <a:bodyPr wrap="square">
            <a:spAutoFit/>
          </a:bodyPr>
          <a:lstStyle/>
          <a:p>
            <a:pPr>
              <a:defRPr sz="2200" b="1">
                <a:solidFill>
                  <a:srgbClr val="1B365D"/>
                </a:solidFill>
              </a:defRPr>
            </a:pPr>
            <a:r>
              <a:t>8. So Sánh Đối Chiếu Với Báo Cáo Gốc: Ưu &amp; Nhược Điểm</a:t>
            </a:r>
          </a:p>
        </p:txBody>
      </p:sp>
      <p:sp>
        <p:nvSpPr>
          <p:cNvPr id="4" name="Rounded Rectangle 3"/>
          <p:cNvSpPr/>
          <p:nvPr/>
        </p:nvSpPr>
        <p:spPr>
          <a:xfrm>
            <a:off x="731520" y="1280160"/>
            <a:ext cx="5120640" cy="4937760"/>
          </a:xfrm>
          <a:prstGeom prst="roundRect">
            <a:avLst>
              <a:gd name="adj" fmla="val 3500"/>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7552" y="1463040"/>
            <a:ext cx="4608576" cy="347472"/>
          </a:xfrm>
          <a:prstGeom prst="rect">
            <a:avLst/>
          </a:prstGeom>
          <a:noFill/>
        </p:spPr>
        <p:txBody>
          <a:bodyPr wrap="square" lIns="0" tIns="0" rIns="0" bIns="0">
            <a:spAutoFit/>
          </a:bodyPr>
          <a:lstStyle/>
          <a:p>
            <a:pPr>
              <a:defRPr sz="1300" b="1">
                <a:solidFill>
                  <a:srgbClr val="1B365D"/>
                </a:solidFill>
              </a:defRPr>
            </a:pPr>
            <a:r>
              <a:t>So Sánh Khoa Học Giữa Hai Công Trình</a:t>
            </a:r>
          </a:p>
        </p:txBody>
      </p:sp>
      <p:sp>
        <p:nvSpPr>
          <p:cNvPr id="6" name="TextBox 5"/>
          <p:cNvSpPr txBox="1"/>
          <p:nvPr/>
        </p:nvSpPr>
        <p:spPr>
          <a:xfrm>
            <a:off x="987552" y="1874519"/>
            <a:ext cx="4608576" cy="4114800"/>
          </a:xfrm>
          <a:prstGeom prst="rect">
            <a:avLst/>
          </a:prstGeom>
          <a:noFill/>
        </p:spPr>
        <p:txBody>
          <a:bodyPr wrap="square" lIns="0" tIns="0" rIns="0" bIns="0">
            <a:spAutoFit/>
          </a:bodyPr>
          <a:lstStyle/>
          <a:p/>
          <a:p>
            <a:pPr>
              <a:defRPr b="1" sz="1200">
                <a:solidFill>
                  <a:srgbClr val="1B365D"/>
                </a:solidFill>
              </a:defRPr>
            </a:pPr>
            <a:r>
              <a:t>• Về Phương Pháp Luận: </a:t>
            </a:r>
          </a:p>
          <a:p>
            <a:pPr>
              <a:spcAft>
                <a:spcPts val="800"/>
              </a:spcAft>
              <a:defRPr sz="1100">
                <a:solidFill>
                  <a:srgbClr val="212529"/>
                </a:solidFill>
              </a:defRPr>
            </a:pPr>
            <a:r>
              <a:t>  Tái hiện thành công bản chất cốt lõi: Khảo sát đặc trưng PE Header, Random Forest 100 cây tối ưu, thực nghiệm K-Fold và giảm chiều đặc trưng.</a:t>
            </a:r>
          </a:p>
          <a:p>
            <a:pPr>
              <a:defRPr b="1" sz="1200">
                <a:solidFill>
                  <a:srgbClr val="1B365D"/>
                </a:solidFill>
              </a:defRPr>
            </a:pPr>
            <a:r>
              <a:t>• Về Bộ Dữ Liệu: </a:t>
            </a:r>
          </a:p>
          <a:p>
            <a:pPr>
              <a:spcAft>
                <a:spcPts val="800"/>
              </a:spcAft>
              <a:defRPr sz="1100">
                <a:solidFill>
                  <a:srgbClr val="212529"/>
                </a:solidFill>
              </a:defRPr>
            </a:pPr>
            <a:r>
              <a:t>  Bài báo dùng tập ClaMP 140k mẫu (VirusShare). Nghiên cứu của em dùng EMBER 2018 chuẩn quốc tế với trục thời gian thực 'appeared'.</a:t>
            </a:r>
          </a:p>
          <a:p>
            <a:pPr>
              <a:defRPr b="1" sz="1200">
                <a:solidFill>
                  <a:srgbClr val="1B365D"/>
                </a:solidFill>
              </a:defRPr>
            </a:pPr>
            <a:r>
              <a:t>• Về Thước Đo: </a:t>
            </a:r>
          </a:p>
          <a:p>
            <a:pPr>
              <a:spcAft>
                <a:spcPts val="800"/>
              </a:spcAft>
              <a:defRPr sz="1100">
                <a:solidFill>
                  <a:srgbClr val="212529"/>
                </a:solidFill>
              </a:defRPr>
            </a:pPr>
            <a:r>
              <a:t>  Bài báo gốc chỉ báo cáo Accuracy và Time. Em bổ sung: ROC-AUC, PR-AUC, Confusion Matrix và quan trọng nhất là FPR.</a:t>
            </a:r>
          </a:p>
          <a:p>
            <a:pPr>
              <a:defRPr b="1" sz="1200">
                <a:solidFill>
                  <a:srgbClr val="1B365D"/>
                </a:solidFill>
              </a:defRPr>
            </a:pPr>
            <a:r>
              <a:t>• Khám phá trôi dạt (Drift): </a:t>
            </a:r>
          </a:p>
          <a:p>
            <a:pPr>
              <a:spcAft>
                <a:spcPts val="800"/>
              </a:spcAft>
              <a:defRPr sz="1100">
                <a:solidFill>
                  <a:srgbClr val="212529"/>
                </a:solidFill>
              </a:defRPr>
            </a:pPr>
            <a:r>
              <a:t>  Bài báo gốc hoàn toàn bỏ qua chiều thời gian. Nghiên cứu này chứng minh thực nghiệm hiện tượng Concept/Feature Drift bằng PSI và KS-test.</a:t>
            </a:r>
          </a:p>
        </p:txBody>
      </p:sp>
      <p:sp>
        <p:nvSpPr>
          <p:cNvPr id="7" name="Rounded Rectangle 6"/>
          <p:cNvSpPr/>
          <p:nvPr/>
        </p:nvSpPr>
        <p:spPr>
          <a:xfrm>
            <a:off x="6217920" y="1280160"/>
            <a:ext cx="5212080" cy="4937760"/>
          </a:xfrm>
          <a:prstGeom prst="roundRect">
            <a:avLst>
              <a:gd name="adj" fmla="val 3500"/>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73952" y="1463040"/>
            <a:ext cx="4700016" cy="347472"/>
          </a:xfrm>
          <a:prstGeom prst="rect">
            <a:avLst/>
          </a:prstGeom>
          <a:noFill/>
        </p:spPr>
        <p:txBody>
          <a:bodyPr wrap="square" lIns="0" tIns="0" rIns="0" bIns="0">
            <a:spAutoFit/>
          </a:bodyPr>
          <a:lstStyle/>
          <a:p>
            <a:pPr>
              <a:defRPr sz="1300" b="1">
                <a:solidFill>
                  <a:srgbClr val="1B365D"/>
                </a:solidFill>
              </a:defRPr>
            </a:pPr>
            <a:r>
              <a:t>Ưu Điểm &amp; Điểm Hạn Chế Của Đề Tài</a:t>
            </a:r>
          </a:p>
        </p:txBody>
      </p:sp>
      <p:sp>
        <p:nvSpPr>
          <p:cNvPr id="9" name="TextBox 8"/>
          <p:cNvSpPr txBox="1"/>
          <p:nvPr/>
        </p:nvSpPr>
        <p:spPr>
          <a:xfrm>
            <a:off x="6473952" y="1874519"/>
            <a:ext cx="4700016" cy="4114800"/>
          </a:xfrm>
          <a:prstGeom prst="rect">
            <a:avLst/>
          </a:prstGeom>
          <a:noFill/>
        </p:spPr>
        <p:txBody>
          <a:bodyPr wrap="square" lIns="0" tIns="0" rIns="0" bIns="0">
            <a:spAutoFit/>
          </a:bodyPr>
          <a:lstStyle/>
          <a:p/>
          <a:p>
            <a:pPr>
              <a:defRPr b="1" sz="1200">
                <a:solidFill>
                  <a:srgbClr val="008080"/>
                </a:solidFill>
              </a:defRPr>
            </a:pPr>
            <a:r>
              <a:t>▶ ƯU ĐIỂM NỔI BẬT:</a:t>
            </a:r>
          </a:p>
          <a:p>
            <a:pPr>
              <a:spcAft>
                <a:spcPts val="1000"/>
              </a:spcAft>
              <a:defRPr sz="1100">
                <a:solidFill>
                  <a:srgbClr val="212529"/>
                </a:solidFill>
              </a:defRPr>
            </a:pPr>
            <a:r>
              <a:t>1. Đảm bảo tính trung thực số liệu 100%, không làm tròn hay bịa số.</a:t>
            </a:r>
            <a:br/>
            <a:r>
              <a:t>2. Thiết lập quy trình Temporal Split chuẩn chống rò rỉ tương lai.</a:t>
            </a:r>
            <a:br/>
            <a:r>
              <a:t>3. Đề xuất và kiểm chứng giải pháp kỹ thuật Sliding Window giúp khắc phục drift hiệu quả.</a:t>
            </a:r>
            <a:br/>
            <a:r>
              <a:t>4. Mã nguồn tự động hóa khép kín (run_all.py).</a:t>
            </a:r>
          </a:p>
          <a:p>
            <a:pPr>
              <a:defRPr b="1" sz="1200">
                <a:solidFill>
                  <a:srgbClr val="D9534F"/>
                </a:solidFill>
              </a:defRPr>
            </a:pPr>
            <a:r>
              <a:t>▶ ĐIỂM HẠN CHẾ:</a:t>
            </a:r>
          </a:p>
          <a:p>
            <a:pPr>
              <a:spcAft>
                <a:spcPts val="1000"/>
              </a:spcAft>
              <a:defRPr sz="1100">
                <a:solidFill>
                  <a:srgbClr val="212529"/>
                </a:solidFill>
              </a:defRPr>
            </a:pPr>
            <a:r>
              <a:t>1. Do điều kiện phần cứng máy tính cá nhân, chưa thể huấn luyện trên toàn bộ 1 triệu mẫu EMBER mà phải lấy mẫu phân tầng 48.000 mẫu.</a:t>
            </a:r>
            <a:br/>
            <a:r>
              <a:t>2. Chỉ khai thác đặc trưng tĩnh, chưa kết hợp phân tích động (Dynamic Behavioral Analysis).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058400" cy="274320"/>
          </a:xfrm>
          <a:prstGeom prst="rect">
            <a:avLst/>
          </a:prstGeom>
          <a:noFill/>
        </p:spPr>
        <p:txBody>
          <a:bodyPr wrap="square">
            <a:spAutoFit/>
          </a:bodyPr>
          <a:lstStyle/>
          <a:p>
            <a:pPr>
              <a:defRPr sz="1000" b="1">
                <a:solidFill>
                  <a:srgbClr val="008080"/>
                </a:solidFill>
              </a:defRPr>
            </a:pPr>
            <a:r>
              <a:t>BÁO CÁO GIỮA KÌ - AN TOÀN VÀ BẢO MẬT HỆ THỐNG THÔNG TIN</a:t>
            </a:r>
          </a:p>
        </p:txBody>
      </p:sp>
      <p:sp>
        <p:nvSpPr>
          <p:cNvPr id="3" name="TextBox 2"/>
          <p:cNvSpPr txBox="1"/>
          <p:nvPr/>
        </p:nvSpPr>
        <p:spPr>
          <a:xfrm>
            <a:off x="731520" y="594360"/>
            <a:ext cx="10515600" cy="548640"/>
          </a:xfrm>
          <a:prstGeom prst="rect">
            <a:avLst/>
          </a:prstGeom>
          <a:noFill/>
        </p:spPr>
        <p:txBody>
          <a:bodyPr wrap="square">
            <a:spAutoFit/>
          </a:bodyPr>
          <a:lstStyle/>
          <a:p>
            <a:pPr>
              <a:defRPr sz="2200" b="1">
                <a:solidFill>
                  <a:srgbClr val="1B365D"/>
                </a:solidFill>
              </a:defRPr>
            </a:pPr>
            <a:r>
              <a:t>9. Kết Luận, Đóng Góp &amp; Hướng Phát Triển Tiếp Theo</a:t>
            </a:r>
          </a:p>
        </p:txBody>
      </p:sp>
      <p:sp>
        <p:nvSpPr>
          <p:cNvPr id="4" name="Rounded Rectangle 3"/>
          <p:cNvSpPr/>
          <p:nvPr/>
        </p:nvSpPr>
        <p:spPr>
          <a:xfrm>
            <a:off x="731520" y="1280160"/>
            <a:ext cx="5120640" cy="4937760"/>
          </a:xfrm>
          <a:prstGeom prst="roundRect">
            <a:avLst>
              <a:gd name="adj" fmla="val 3500"/>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7552" y="1463040"/>
            <a:ext cx="4608576" cy="347472"/>
          </a:xfrm>
          <a:prstGeom prst="rect">
            <a:avLst/>
          </a:prstGeom>
          <a:noFill/>
        </p:spPr>
        <p:txBody>
          <a:bodyPr wrap="square" lIns="0" tIns="0" rIns="0" bIns="0">
            <a:spAutoFit/>
          </a:bodyPr>
          <a:lstStyle/>
          <a:p>
            <a:pPr>
              <a:defRPr sz="1300" b="1">
                <a:solidFill>
                  <a:srgbClr val="1B365D"/>
                </a:solidFill>
              </a:defRPr>
            </a:pPr>
            <a:r>
              <a:t>Kết Luận Rút Ra Từ Đề Tài</a:t>
            </a:r>
          </a:p>
        </p:txBody>
      </p:sp>
      <p:sp>
        <p:nvSpPr>
          <p:cNvPr id="6" name="TextBox 5"/>
          <p:cNvSpPr txBox="1"/>
          <p:nvPr/>
        </p:nvSpPr>
        <p:spPr>
          <a:xfrm>
            <a:off x="987552" y="1874519"/>
            <a:ext cx="4608576" cy="4114800"/>
          </a:xfrm>
          <a:prstGeom prst="rect">
            <a:avLst/>
          </a:prstGeom>
          <a:noFill/>
        </p:spPr>
        <p:txBody>
          <a:bodyPr wrap="square" lIns="0" tIns="0" rIns="0" bIns="0">
            <a:spAutoFit/>
          </a:bodyPr>
          <a:lstStyle/>
          <a:p/>
          <a:p>
            <a:pPr>
              <a:defRPr b="1" sz="1200">
                <a:solidFill>
                  <a:srgbClr val="1B365D"/>
                </a:solidFill>
              </a:defRPr>
            </a:pPr>
            <a:r>
              <a:t>✔ Hiệu quả của PE Header:</a:t>
            </a:r>
          </a:p>
          <a:p>
            <a:pPr>
              <a:spcAft>
                <a:spcPts val="1000"/>
              </a:spcAft>
              <a:defRPr sz="1100">
                <a:solidFill>
                  <a:srgbClr val="212529"/>
                </a:solidFill>
              </a:defRPr>
            </a:pPr>
            <a:r>
              <a:t>Xác nhận kết luận bài báo: Các trường thông tin PE Header hoàn toàn đủ nhạy để phân loại mã độc với độ chính xác cao và chi phí trích xuất cực nhanh.</a:t>
            </a:r>
          </a:p>
          <a:p>
            <a:pPr>
              <a:defRPr b="1" sz="1200">
                <a:solidFill>
                  <a:srgbClr val="1B365D"/>
                </a:solidFill>
              </a:defRPr>
            </a:pPr>
            <a:r>
              <a:t>✔ Thực tế trôi dạt dữ liệu:</a:t>
            </a:r>
          </a:p>
          <a:p>
            <a:pPr>
              <a:spcAft>
                <a:spcPts val="1000"/>
              </a:spcAft>
              <a:defRPr sz="1100">
                <a:solidFill>
                  <a:srgbClr val="212529"/>
                </a:solidFill>
              </a:defRPr>
            </a:pPr>
            <a:r>
              <a:t>Phép chia ngẫu nhiên (Random Split) thường cho kết quả lạc quan giả tạo. Trong môi trường thực tế (Temporal Split), hiệu năng mô hình luôn suy giảm qua các tháng.</a:t>
            </a:r>
          </a:p>
          <a:p>
            <a:pPr>
              <a:defRPr b="1" sz="1200">
                <a:solidFill>
                  <a:srgbClr val="1B365D"/>
                </a:solidFill>
              </a:defRPr>
            </a:pPr>
            <a:r>
              <a:t>✔ Giải pháp Retraining định kỳ:</a:t>
            </a:r>
          </a:p>
          <a:p>
            <a:pPr>
              <a:spcAft>
                <a:spcPts val="1000"/>
              </a:spcAft>
              <a:defRPr sz="1100">
                <a:solidFill>
                  <a:srgbClr val="212529"/>
                </a:solidFill>
              </a:defRPr>
            </a:pPr>
            <a:r>
              <a:t>Chiến lược cập nhật mô hình theo cửa sổ trượt (Sliding Window Retraining) là bắt buộc trong các hệ thống phòng thủ mã độc thế hệ mới để duy trì độ tin cậy.</a:t>
            </a:r>
          </a:p>
        </p:txBody>
      </p:sp>
      <p:sp>
        <p:nvSpPr>
          <p:cNvPr id="7" name="Rounded Rectangle 6"/>
          <p:cNvSpPr/>
          <p:nvPr/>
        </p:nvSpPr>
        <p:spPr>
          <a:xfrm>
            <a:off x="6217920" y="1280160"/>
            <a:ext cx="5212080" cy="4937760"/>
          </a:xfrm>
          <a:prstGeom prst="roundRect">
            <a:avLst>
              <a:gd name="adj" fmla="val 3500"/>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73952" y="1463040"/>
            <a:ext cx="4700016" cy="347472"/>
          </a:xfrm>
          <a:prstGeom prst="rect">
            <a:avLst/>
          </a:prstGeom>
          <a:noFill/>
        </p:spPr>
        <p:txBody>
          <a:bodyPr wrap="square" lIns="0" tIns="0" rIns="0" bIns="0">
            <a:spAutoFit/>
          </a:bodyPr>
          <a:lstStyle/>
          <a:p>
            <a:pPr>
              <a:defRPr sz="1300" b="1">
                <a:solidFill>
                  <a:srgbClr val="1B365D"/>
                </a:solidFill>
              </a:defRPr>
            </a:pPr>
            <a:r>
              <a:t>Hướng Phát Triển Trong Tương Lai</a:t>
            </a:r>
          </a:p>
        </p:txBody>
      </p:sp>
      <p:sp>
        <p:nvSpPr>
          <p:cNvPr id="9" name="TextBox 8"/>
          <p:cNvSpPr txBox="1"/>
          <p:nvPr/>
        </p:nvSpPr>
        <p:spPr>
          <a:xfrm>
            <a:off x="6473952" y="1874519"/>
            <a:ext cx="4700016" cy="4114800"/>
          </a:xfrm>
          <a:prstGeom prst="rect">
            <a:avLst/>
          </a:prstGeom>
          <a:noFill/>
        </p:spPr>
        <p:txBody>
          <a:bodyPr wrap="square" lIns="0" tIns="0" rIns="0" bIns="0">
            <a:spAutoFit/>
          </a:bodyPr>
          <a:lstStyle/>
          <a:p/>
          <a:p>
            <a:pPr>
              <a:defRPr b="1" sz="1200">
                <a:solidFill>
                  <a:srgbClr val="008080"/>
                </a:solidFill>
              </a:defRPr>
            </a:pPr>
            <a:r>
              <a:t>🚀 1. Mở rộng bộ dữ liệu BODMAS &amp; EMBER 2024:</a:t>
            </a:r>
          </a:p>
          <a:p>
            <a:pPr>
              <a:spcAft>
                <a:spcPts val="1000"/>
              </a:spcAft>
              <a:defRPr sz="1100">
                <a:solidFill>
                  <a:srgbClr val="212529"/>
                </a:solidFill>
              </a:defRPr>
            </a:pPr>
            <a:r>
              <a:t>Thử nghiệm trên các tập dữ liệu đa năm (2019-2024) để đánh giá khả năng chống trôi dạt trong khoảng thời gian dài từ 2 đến 3 năm.</a:t>
            </a:r>
          </a:p>
          <a:p>
            <a:pPr>
              <a:defRPr b="1" sz="1200">
                <a:solidFill>
                  <a:srgbClr val="008080"/>
                </a:solidFill>
              </a:defRPr>
            </a:pPr>
            <a:r>
              <a:t>🚀 2. Tự động phát hiện Drift (Drift Detection Alerts):</a:t>
            </a:r>
          </a:p>
          <a:p>
            <a:pPr>
              <a:spcAft>
                <a:spcPts val="1000"/>
              </a:spcAft>
              <a:defRPr sz="1100">
                <a:solidFill>
                  <a:srgbClr val="212529"/>
                </a:solidFill>
              </a:defRPr>
            </a:pPr>
            <a:r>
              <a:t>Tích hợp cơ chế cảnh báo tự động khi chỉ số PSI vượt ngưỡng 0.25 để kích hoạt pipeline huấn luyện lại tự động (MLOps for Cybersecurity).</a:t>
            </a:r>
          </a:p>
          <a:p>
            <a:pPr>
              <a:defRPr b="1" sz="1200">
                <a:solidFill>
                  <a:srgbClr val="008080"/>
                </a:solidFill>
              </a:defRPr>
            </a:pPr>
            <a:r>
              <a:t>🚀 3. Kết hợp Đồ thị cuộc gọi API (API Call Graph):</a:t>
            </a:r>
          </a:p>
          <a:p>
            <a:pPr>
              <a:spcAft>
                <a:spcPts val="1000"/>
              </a:spcAft>
              <a:defRPr sz="1100">
                <a:solidFill>
                  <a:srgbClr val="212529"/>
                </a:solidFill>
              </a:defRPr>
            </a:pPr>
            <a:r>
              <a:t>Bổ sung thông tin chuỗi gọi hàm và hành vi sandbox nhằm phát hiện các biến thể mã độc pack tinh vi.</a:t>
            </a:r>
          </a:p>
          <a:p>
            <a:br/>
            <a:pPr algn="ctr">
              <a:defRPr sz="1300" b="1">
                <a:solidFill>
                  <a:srgbClr val="1B365D"/>
                </a:solidFill>
              </a:defRPr>
            </a:pPr>
            <a:r>
              <a:t>EM XIN CHÂN THÀNH CẢM ƠN THẦY ĐÃ LẮNG NGHE!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